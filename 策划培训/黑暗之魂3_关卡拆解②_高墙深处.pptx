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097280"/>
            <a:ext cx="1463040" cy="1463040"/>
          </a:xfrm>
          <a:prstGeom prst="ellipse">
            <a:avLst/>
          </a:prstGeom>
          <a:solidFill>
            <a:srgbClr val="D4731A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黑暗之魂Ⅲ 关卡拆解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洛斯里克的高墙 ② — 高墙深处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0" y="3886200"/>
            <a:ext cx="2743200" cy="13716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「会呼吸的关卡」—— 心流理论 × 空间引导 × 心理操控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来源：Ymagine (Bilibili)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课程概览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" cy="960120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2704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高墙边塔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朝向控制 · 光照引导 · 破洞预览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25880"/>
            <a:ext cx="54864" cy="960120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2704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人脓屋顶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235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动态引导 · 多路线选择 · 俯瞰预览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42316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423160"/>
            <a:ext cx="54864" cy="960120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餐厅 / 武器库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087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空间升级 · 多敌人配置 · 有得有失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42316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423160"/>
            <a:ext cx="54864" cy="960120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2432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肥仔广场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235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空间锚点 · 注意力操控 · 风险回报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52044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520440"/>
            <a:ext cx="54864" cy="960120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21608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返程捷径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5087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心理操控 · 战前准备 · 柳暗花明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520440"/>
            <a:ext cx="3840480" cy="960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520440"/>
            <a:ext cx="54864" cy="960120"/>
          </a:xfrm>
          <a:prstGeom prst="rect">
            <a:avLst/>
          </a:prstGeom>
          <a:solidFill>
            <a:srgbClr val="D473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2160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356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核心理论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56235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心流节奏 · 3D 银河城空间连通性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核心论点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201168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魂系关卡是「会呼吸」的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4592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通过难度递进、节奏控制和空间引导，让玩家体验如呼吸般一张一弛。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一紧一松，张弛有度，难度循序渐进 —— 完全符合心流理论（Flow Theory）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2468880" cy="11887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822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空间引导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光照、破洞、俯瞰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构建三维空间认知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3703320"/>
            <a:ext cx="2468880" cy="11887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8221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战斗节奏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204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偷袭、陷阱、强敌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张弛交替推进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3703320"/>
            <a:ext cx="2468880" cy="11887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82219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364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心理操控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2636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方向模糊、最后一吓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放大捷径的惊艳感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 1：高墙边塔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WALL SIDE TOWER — 篝火、朝向与破洞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846320" cy="749808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7498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篝火处朝向控制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正对楼梯，背对隐藏物品 → 自然向前探索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4846320" cy="749808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54864" cy="7498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光照路径引导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光线入射处 = 下楼楼梯；门框给光源 → 主次分明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846320" cy="749808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54680"/>
            <a:ext cx="54864" cy="7498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27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破洞预览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538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反复从不同角度看到地板破洞 → 激发探索深层的好奇心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846320" cy="749808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23360"/>
            <a:ext cx="54864" cy="7498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方向感模糊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407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塔内绕行 + 出门时方向逆转 → 为捷径「柳暗花明」伏笔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417320"/>
            <a:ext cx="3200400" cy="292608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89788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83680" y="2468880"/>
            <a:ext cx="1463040" cy="13716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25" name="Text 22"/>
          <p:cNvSpPr/>
          <p:nvPr/>
        </p:nvSpPr>
        <p:spPr>
          <a:xfrm>
            <a:off x="589788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物品放置不是随机的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「视野盲区那么多，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偏在这里藏」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每一处物品都服务于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引导或奖励的意图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手法：敌人引导移动 · 半通不通的门 · NPC 监牢记忆点 · 骑士背影暗示可避战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 2：人脓屋顶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 OF MAN ROOFTOP — 动态引导与多路线选择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宝石结晶虫 — 动态引导的典范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81051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虫子会动 → 玩家要追 → 追逐路线 = 设计者预设的前进方向。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虫子贴房檐跑 → 玩家不知不觉被引到下楼的楼梯前。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54480" y="29260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跳板直落广场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快速路线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二次经过时的选择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37560" y="2834640"/>
            <a:ext cx="2560320" cy="14630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2926080"/>
            <a:ext cx="457200" cy="45720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47472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清怪 → 爬梯下广场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7472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设计者期望的初见路线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弩手引导至此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26480" y="2834640"/>
            <a:ext cx="2560320" cy="14630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0" y="29260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26364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进门框 → 战枪骑士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364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弩手逼迫回头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处理后再探索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俯瞰预览：垃圾拾取物的真正作用 → 让玩家站到特定位置向下看 → 建立对广场的探索预期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 3：餐厅 / 武器库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HALL — 空间升级与多敌人配置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2860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空间升级：餐厅 = 龙石塔的全面升级版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三层结构（vs 龙石塔的简单纵深）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「可见不可及」引导探索支路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怪物数量增多 → 要求逐个击破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新增多种偷袭方式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22860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多敌人关卡设计（二层广场）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距下楼点最近 → 优先击杀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斧头哥 ×3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322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行进时机错开 → 逐个击破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24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火药桶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724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紧邻怪物巡逻路径 → 可利用引爆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元素碎片 + 小偷监牢钥匙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「有得有失」哲学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2245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支路尽头有奖励（亚斯特拉直剑），但不能回头 → 只能直接往下跳 → 大概率一对多。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但提供缓和机制：高亮火药桶 + 下落攻击机会 → 简化为可控的一对二。</a:t>
            </a:r>
            <a:pPr indent="0" marL="0">
              <a:buNone/>
            </a:pPr>
            <a:r>
              <a:rPr lang="en-US" sz="1200" i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奖励与风险成正比。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 4：肥仔广场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WINGED KNIGHT PLAZA — 空间锚点与注意力操控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103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空间锚点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反复让玩家从不同角度看到广场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形成空间认知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017520"/>
            <a:ext cx="192024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「刚才在另一边看到的阳台」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1371600"/>
            <a:ext cx="2651760" cy="2103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强敌威慑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羽翼骑士沉重脚步 + 巨大身形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暗示潜行绕路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94760" y="3017520"/>
            <a:ext cx="192024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16" name="Text 12"/>
          <p:cNvSpPr/>
          <p:nvPr/>
        </p:nvSpPr>
        <p:spPr>
          <a:xfrm>
            <a:off x="35661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骑士尸体 + 战火诉说城墙的过去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371600"/>
            <a:ext cx="2651760" cy="21031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08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注意力操控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4652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大胃袋吸引注意力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忽略背后藏的敌怪和物品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675120" y="3017520"/>
            <a:ext cx="192024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22" name="Text 17"/>
          <p:cNvSpPr/>
          <p:nvPr/>
        </p:nvSpPr>
        <p:spPr>
          <a:xfrm>
            <a:off x="64465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「极大动作掩饰小动作」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刘谦魔术同理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772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 / 奖励结构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772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潜行绕路</a:t>
            </a:r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无伤通过但放弃光点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拾取光点</a:t>
            </a:r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必须与肥仔正面冲突 → 奖励是 </a:t>
            </a:r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两个余火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过渡性场景：衔接人脓屋顶、餐厅、高墙底层 — 设计精巧的「中间地带」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 5：返程捷径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PATH — 心理操控的巅峰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508760" cy="10058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弓箭手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365760" cy="36576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19456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94560" y="1417320"/>
            <a:ext cx="1508760" cy="10058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上楼看到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门框+火把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0" y="2148840"/>
            <a:ext cx="365760" cy="36576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945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77640" y="1417320"/>
            <a:ext cx="1508760" cy="10058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97764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捡到反复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看见的拾取物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26280" y="2148840"/>
            <a:ext cx="365760" cy="36576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8" name="Text 14"/>
          <p:cNvSpPr/>
          <p:nvPr/>
        </p:nvSpPr>
        <p:spPr>
          <a:xfrm>
            <a:off x="45262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19456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760720" y="1417320"/>
            <a:ext cx="1508760" cy="10058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76072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带灯小怪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最后一吓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2148840"/>
            <a:ext cx="365760" cy="36576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3" name="Text 18"/>
          <p:cNvSpPr/>
          <p:nvPr/>
        </p:nvSpPr>
        <p:spPr>
          <a:xfrm>
            <a:off x="6309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94560"/>
            <a:ext cx="182880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543800" y="1417320"/>
            <a:ext cx="1508760" cy="10058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54380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坐电梯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解锁捷径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092440" y="2148840"/>
            <a:ext cx="365760" cy="36576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8" name="Text 22"/>
          <p:cNvSpPr/>
          <p:nvPr/>
        </p:nvSpPr>
        <p:spPr>
          <a:xfrm>
            <a:off x="80924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2926080"/>
            <a:ext cx="8046720" cy="12344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2926080"/>
            <a:ext cx="54864" cy="1234440"/>
          </a:xfrm>
          <a:prstGeom prst="rect">
            <a:avLst/>
          </a:prstGeom>
          <a:solidFill>
            <a:srgbClr val="D4731A"/>
          </a:solidFill>
          <a:ln/>
        </p:spPr>
      </p:sp>
      <p:sp>
        <p:nvSpPr>
          <p:cNvPr id="31" name="Text 25"/>
          <p:cNvSpPr/>
          <p:nvPr/>
        </p:nvSpPr>
        <p:spPr>
          <a:xfrm>
            <a:off x="86868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「将欲夺之，必固与之」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868680" y="34564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要让你体会解锁捷径的惊艳，必须先让你经历可控的绝望。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这是魂与类魂的区别：一个是心理的掌握，一个是纯粹的恶意。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7724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战前准备清单：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2286000" y="4389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多把可选武器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两个锻造石（恰好可强化）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黄金松脂（武器附魔）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绿花草（提高精力恢复）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「这一切的一切，都是在为接下来的精彩好戏做准备。」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核心理论①：会呼吸的关卡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THEORY — 心流节奏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战斗学习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进入状态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27632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56232" y="1554480"/>
            <a:ext cx="502920" cy="50292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185623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73352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难度递进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73352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循序渐进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73352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43784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72384" y="1554480"/>
            <a:ext cx="502920" cy="502920"/>
          </a:xfrm>
          <a:prstGeom prst="ellipse">
            <a:avLst/>
          </a:prstGeom>
          <a:solidFill>
            <a:srgbClr val="D4731A"/>
          </a:solidFill>
          <a:ln/>
        </p:spPr>
      </p:sp>
      <p:sp>
        <p:nvSpPr>
          <p:cNvPr id="19" name="Text 17"/>
          <p:cNvSpPr/>
          <p:nvPr/>
        </p:nvSpPr>
        <p:spPr>
          <a:xfrm>
            <a:off x="307238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89504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陷阱变奏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9504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提高警惕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59936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88536" y="1554480"/>
            <a:ext cx="502920" cy="502920"/>
          </a:xfrm>
          <a:prstGeom prst="ellipse">
            <a:avLst/>
          </a:prstGeom>
          <a:solidFill>
            <a:srgbClr val="8B7848"/>
          </a:solidFill>
          <a:ln/>
        </p:spPr>
      </p:sp>
      <p:sp>
        <p:nvSpPr>
          <p:cNvPr id="25" name="Text 23"/>
          <p:cNvSpPr/>
          <p:nvPr/>
        </p:nvSpPr>
        <p:spPr>
          <a:xfrm>
            <a:off x="428853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05656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NPC/返程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05656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平复心情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05656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💨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76088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04688" y="1554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50468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人脓激化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情绪激活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21808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2240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0840" y="1554480"/>
            <a:ext cx="502920" cy="502920"/>
          </a:xfrm>
          <a:prstGeom prst="ellipse">
            <a:avLst/>
          </a:prstGeom>
          <a:solidFill>
            <a:srgbClr val="8B7848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7960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探索平复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给机会平复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37960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💨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708392" y="1417320"/>
            <a:ext cx="1051560" cy="1691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36992" y="1554480"/>
            <a:ext cx="502920" cy="502920"/>
          </a:xfrm>
          <a:prstGeom prst="ellipse">
            <a:avLst/>
          </a:prstGeom>
          <a:solidFill>
            <a:srgbClr val="D4731A"/>
          </a:solidFill>
          <a:ln/>
        </p:spPr>
      </p:sp>
      <p:sp>
        <p:nvSpPr>
          <p:cNvPr id="43" name="Text 41"/>
          <p:cNvSpPr/>
          <p:nvPr/>
        </p:nvSpPr>
        <p:spPr>
          <a:xfrm>
            <a:off x="793699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54112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战斗偷袭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54112" y="24505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再次收紧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54112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3383280"/>
            <a:ext cx="3840480" cy="16002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心流节奏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学习战斗 → 难度递进 → 陷阱变奏 → NPC/返程平复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人脓演出激化 → 探索平复 → 战斗偷袭再激化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一紧一松，张弛有度 — 完全符合游戏设计的 Flow Theory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3383280"/>
            <a:ext cx="3931920" cy="16002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4632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Theory 关键要素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4632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挑战与技能平衡：难度循序渐进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清晰目标：光照/敌人/物品持续引导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即时反馈：偷袭、陷阱、战斗结果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控制感：玩家始终有选择权（多路线）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专注：高强度战斗 + 探索 = 沉浸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核心理论②：3D 恶魔城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METROIDVANIA — 空间连通性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22860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银河城 → 3D 魂系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魂的地图是将房间与区块在三维世界进行排列堆叠，路线设计思路与 2D 银河城相通——通过地图设计引导玩家探索和战斗。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核心手法：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单向门 → 强制回头探索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跳板/捷径 → 二次经过的路线多样性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电梯 → 连通高低差，制造惊艳感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可见不可及 → 激发探索欲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3657600" cy="228600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方向感模糊的底层逻辑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0640" y="18745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玩家走在地面上 → 世界是「平面」的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但设计时世界是三维的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玩家只知道「从这个房间出去是什么房间」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很少构建真实的空间联系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高强度战斗 + 探索 → 方向感被系统性模糊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捷径开通时 → 发现兜了一大圈回到原点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8046720" cy="105156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886200"/>
            <a:ext cx="54864" cy="1051560"/>
          </a:xfrm>
          <a:prstGeom prst="rect">
            <a:avLst/>
          </a:prstGeom>
          <a:solidFill>
            <a:srgbClr val="D4731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捷径的惊艳感从何而来？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43251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先系统性模糊方向 → 让玩家失去空间定位 → 捷径打开时瞬间恢复认知 → 惊艳感极其强烈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设计手法速查表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TECHNIQUES CHEAT SHEET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2834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965960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视觉引导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19659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光照/光源定向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4688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火把标记门框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6207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97180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拾取物白点引导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36499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34747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追光源（解包证实）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371600"/>
            <a:ext cx="1965960" cy="2834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371600"/>
            <a:ext cx="1965960" cy="457200"/>
          </a:xfrm>
          <a:prstGeom prst="rect">
            <a:avLst/>
          </a:prstGeom>
          <a:solidFill>
            <a:srgbClr val="D4731A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敌人引导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19659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敌人背影暗示可避战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35915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2670048" y="24688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弩手逼迫回头发掘路线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286207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2670048" y="297180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宝石结晶虫追逐引导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336499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2670048" y="34747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强敌身形暗示潜行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371600"/>
            <a:ext cx="1965960" cy="2834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371600"/>
            <a:ext cx="1965960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空间引导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19659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破洞预览（多次看到）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35915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4688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俯瞰预览（建立预期）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86207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297180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反复看到广场（锚点）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36499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34747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可见不可及（激发探索）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1371600"/>
            <a:ext cx="1965960" cy="2834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1371600"/>
            <a:ext cx="19659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心理节奏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67728" y="19659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偷袭 → 提高警惕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40880" y="235915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24688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 → 改变节奏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286207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297180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最后一吓 → 放大惊艳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3364992"/>
            <a:ext cx="1600200" cy="457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4" name="Text 42"/>
          <p:cNvSpPr/>
          <p:nvPr/>
        </p:nvSpPr>
        <p:spPr>
          <a:xfrm>
            <a:off x="6967728" y="34747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战前装备 → 信心建设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路线控制手法：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011680" y="448056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单向门（强制回头探索）  ·  跳板捷径（二次经过的路线多样性）  ·  有得有失（支路不能回头）  ·  电梯/梯子（垂直连通）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4727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弓箭手指向捷径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总结：伟大关卡设计的 DNA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574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空间是语言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14400" y="2926080"/>
            <a:ext cx="173736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光照、破洞、门框 — 一切视觉元素都是设计师的"词汇"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俯瞰预览 + 空间锚点 → 构建玩家内心地图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银河城：房间堆叠 + 捷径连通 = 惊艳的空间叙事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337560" y="1920240"/>
            <a:ext cx="2651760" cy="23774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574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节奏是呼吸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794760" y="2926080"/>
            <a:ext cx="173736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13" name="Text 8"/>
          <p:cNvSpPr/>
          <p:nvPr/>
        </p:nvSpPr>
        <p:spPr>
          <a:xfrm>
            <a:off x="352044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战斗(紧) → 探索(松) → 偷袭(紧) → NPC(松)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心流理论：难度与技能平衡，持续引导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陷阱、偷袭、强敌 — 控制节奏的"标点符号"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1920240"/>
            <a:ext cx="2651760" cy="2377440"/>
          </a:xfrm>
          <a:prstGeom prst="rect">
            <a:avLst/>
          </a:prstGeom>
          <a:solidFill>
            <a:srgbClr val="1E1E33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05740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选择是尊重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675120" y="2926080"/>
            <a:ext cx="1737360" cy="9144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多路线 = 玩家的代理感（Agency）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有得有失：风险与奖励成正比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潜行 or 战斗？跳板 or 绕路？选择权永远在玩家手中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0" y="4572000"/>
            <a:ext cx="2743200" cy="13716"/>
          </a:xfrm>
          <a:prstGeom prst="rect">
            <a:avLst/>
          </a:prstGeom>
          <a:solidFill>
            <a:srgbClr val="8B7848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「这不是关卡，这是一首用空间写成的诗。」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黑暗之魂3 洛斯里克高墙 关卡拆解② — 高墙深处</dc:title>
  <dc:subject>PptxGenJS Presentation</dc:subject>
  <dc:creator>Ymagine (Bilibili) / Wiki Notes</dc:creator>
  <cp:lastModifiedBy>Ymagine (Bilibili) / Wiki Notes</cp:lastModifiedBy>
  <cp:revision>1</cp:revision>
  <dcterms:created xsi:type="dcterms:W3CDTF">2026-06-27T12:36:12Z</dcterms:created>
  <dcterms:modified xsi:type="dcterms:W3CDTF">2026-06-27T12:36:12Z</dcterms:modified>
</cp:coreProperties>
</file>