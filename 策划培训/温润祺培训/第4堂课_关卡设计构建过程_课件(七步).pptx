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6979" autoAdjust="0"/>
  </p:normalViewPr>
  <p:slideViewPr>
    <p:cSldViewPr snapToGrid="0" snapToObjects="1">
      <p:cViewPr varScale="1">
        <p:scale>
          <a:sx n="156" d="100"/>
          <a:sy n="156" d="100"/>
        </p:scale>
        <p:origin x="18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679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【时间建议：0-5min】封面页，快速带过。
开场直接点题："你已经证明了能看懂一个好关卡是怎么搭的。今天开始，你要做的不是继续看别人怎么做，而是回答一个更难的问题——你自己想让玩家经历什么？"
不要停留太久，用这句话把学生的状态从"上课"切到"我要转变角色了"，然后立刻进入下一页的作业回顾。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【时间建议：5min，含上页共约5分钟】
先具体点评上周《尼尔:机械纪元》拆解作业的三个亮点：难度曲线打分(1→10)专业、敌人分布数值表体系化、引导/环境叙事分析有深度——要点名说好在哪，不要泛泛表扬。
然后正式宣告转折："过去3课你在分析别人的关卡，今天开始，你要设计自己的关卡了。"
强调今天定的方向会持续用到第9课，让学生意识到这堂课的分量，不是随便一节课。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【时间建议：8min】这是本课第一个知识密度较高的部分，但不要展开讲太细，核心是让学生"啊，原来是反过来"。
逐行带他看表格：拆解时问"它为什么这样设计"（从成品倒推意图），设计时问"我想让玩家体验什么，该怎么搭"（从意图正推成品）。
用他自己的分析结构做镜像：难度曲线(读)→目标曲线(画)；敌人分布(读)→敌人编排(布)；引导手法(读)→引导设计(用)；环境叙事(解读)→环境叙事(讲自己的故事)。
关键提醒学生：拆解能力不会浪费，后面每一课都会用它做"自我检验"的工具——比如设计完一段遭遇，可以用上周学的"敌人分布拆解法"反过来检查自己的编排是否合理。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【时间建议：10min，本课核心框架，先建立全局观】
这页是七步流程的总览，先让学生看到完整的设计思考链，再逐步展开。
讲清一个关键结构：前5步（目标→主题→元素→流程→体验）搭的是"逻辑骨架"——先想清楚这一关是什么、由什么组成、怎么走、给什么感受；第6步"桥段"才加入乐趣设计和空间/视觉画面；第7步"问题"是回过头做自我检验。
强调这个顺序不能乱："很多新手一上来就想画地图、摆场景，但那是第6步的事。先把前面的逻辑想清楚，画面才不会空。"
这正好纠正他上周作业的倾向——他拆《尼尔》时空间/视觉分析很强，但这套方法要求他先压住画面冲动，从"为什么做"开始想。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【时间建议：约8min，逐步讲解前四步】
逐一讲前四步，每讲一步就用《尼尔》序章反问他"这一关是怎么做的"：
① 目标——先问"为什么要有这一关"。《尼尔》序章的目标是教学+建立世界观+引出复活机制。
② 主题——用一个动词/情境概括。《尼尔》序章可以概括为"突袭/攻坚"。让学生理解主题是整关基调（暗杀关和逃脱关的气质完全不同）。
③ 元素——列"工具箱"：敌人（什么样的敌人）、NPC（有什么故事）、交互物体、机关。让他回忆《尼尔》序章用了哪些元素（小型/中型/飞行/大型机械敌人、桥段NPC等）。
④ 关卡流程——起点-经历-终点，**重点强调只关注逻辑性，先不管空间和视觉布局**。这一点要反复强调，因为他容易一上来就想画地图。可以让他用纯文字/箭头描述流程，不允许画平面图。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【时间建议：约8min，讲后三步，第6步是重点】
① 玩家体验（第5步）——问"玩家玩到这里会是什么情绪"：紧张？好奇？成就感？压迫？体验是设计的验收标准，前面所有设计都要能对应到某种感受。
② 桥段（第6步，重点）——这是"游戏的乐趣剧本"，即具体的高光片段。举他能懂的例子：潜行但距离敌人很近的紧张感、近战武器开局的爽快、与大型Boss的战斗。**重点告诉学生：到这一步才可以加入空间和视觉布局的构思**——因为有了逻辑骨架，画面才有依托。这正好释放他的空间/美术天赋，但是在正确的时机。
③ 问题（第7步）——反思前面所有内容会不会出问题（卡关、无聊、逻辑断裂），并思考"能否通过调整元素来解决"。强调这是设计者的必备素养：不是做完就完了，要能自我批判。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【时间建议：约6min，现场把七步走一遍】
这是"扶着走一遍"的练习，不是正式作业，目的是降低正式设计的心理门槛。
提问方式："如果你是续作的关卡策划，要设计《尼尔》序章的下一关，我们用这七步一起走一遍。"
按四个卡片分组引导（目标+主题→元素→流程+体验→桥段+问题），每一步都用引导提问，不要直接给答案：
- 问目标和主题时，让他先想"这一关想干什么"；
- 问元素时，让他从《尼尔》世界观里挑；
- 问流程时，**要求他只描述逻辑，不许画地图**；
- 问桥段时，才让他放开想画面和空间；
- 最后一定要问"这样设计会不会有问题"，训练他的第7步反思习惯。
全程让他自己说出来，效果比讲授好。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【时间建议：约4min】
说明练习和正式作业的区别：课堂练习是为《尼尔》续作练手，正式作业要为他自己的原创关卡写设计初稿。
逐条讲清作业4要按七步填写：①目标+②主题、③元素+④流程、⑤体验+⑥桥段、⑦问题。
强调两个检查重点：(1) 第4步流程必须只写逻辑、不画地图（画面留到第6步桥段）；(2) 第7步的问题反思必须真的指出问题并给出用元素解决的方案，不能走过场。
最后预告第5课：把这份七步初稿落成第一版关卡平面图和动线设计——那时才正式进入空间布局。
如果时间紧张，这页作业说明要保证讲完。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【附录页，课上按需展示或课后发给学生】
这是本课所有游戏案例的汇总清单，方便学生课后自行查阅深入学习，不用在课堂上逐条打开链接。
可以在课程结尾快速过一遍，告诉学生："今天提到的所有案例都在这页，课后可以挑感兴趣的深入看，尤其是《空洞骑士》的关卡设计解析和新手引导分析，对你接下来设计教学段很有参考价值。"
链接为文字形式的搜索关键词/文章标题，学生可自行搜索打开，避免课件中的链接失效。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0CA6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701" y="0"/>
            <a:ext cx="63401" cy="5143500"/>
          </a:xfrm>
          <a:prstGeom prst="rect">
            <a:avLst/>
          </a:prstGeom>
          <a:solidFill>
            <a:srgbClr val="3B5B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198811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50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游戏策划培训 · 第 4 课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675061"/>
            <a:ext cx="7772400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关卡立项</a:t>
            </a:r>
            <a:endParaRPr lang="en-US" sz="4000" dirty="0"/>
          </a:p>
          <a:p>
            <a:pPr marL="0" indent="0" algn="l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从"想拆"到"想做"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62000" y="3020764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buNone/>
            </a:pPr>
            <a:r>
              <a:rPr lang="en-US" sz="1900" dirty="0">
                <a:solidFill>
                  <a:srgbClr val="BFE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从今天起，你是设计者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000" y="3725614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0"/>
              </a:spcBef>
              <a:buNone/>
            </a:pPr>
            <a:r>
              <a:rPr lang="en-US" sz="1300" dirty="0">
                <a:solidFill>
                  <a:srgbClr val="7FA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学员：温润祺 ｜ 主题：关卡设计概念(Concept)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5100" y="431750"/>
            <a:ext cx="0" cy="730151"/>
          </a:xfrm>
          <a:prstGeom prst="line">
            <a:avLst/>
          </a:prstGeom>
          <a:noFill/>
          <a:ln w="114300">
            <a:solidFill>
              <a:srgbClr val="0CA6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25401" y="431750"/>
            <a:ext cx="7966862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作业回顾 + 转折点宣告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5401" y="942826"/>
            <a:ext cx="79668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300" dirty="0">
                <a:solidFill>
                  <a:srgbClr val="7A6A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肯定上周拆解质量，宣告"读→写"的身份转换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441252"/>
            <a:ext cx="3949750" cy="1838920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679377"/>
            <a:ext cx="34913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CA6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👍 上周作业很棒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1376" y="2082552"/>
            <a:ext cx="3422898" cy="8706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《尼尔:机械纪元》序章拆解专业</a:t>
            </a:r>
            <a:endParaRPr lang="en-US" sz="1300" dirty="0"/>
          </a:p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难度曲线、敌人分布表已成体系</a:t>
            </a:r>
            <a:endParaRPr lang="en-US" sz="1300" dirty="0"/>
          </a:p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引导与环境叙事分析有深度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86300" y="1441252"/>
            <a:ext cx="3949750" cy="1838920"/>
          </a:xfrm>
          <a:prstGeom prst="roundRect">
            <a:avLst>
              <a:gd name="adj" fmla="val 828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49726" y="1679377"/>
            <a:ext cx="34913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今天开始不一样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49726" y="2082552"/>
            <a:ext cx="3422898" cy="8706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过去3课：分析别人的关卡</a:t>
            </a:r>
            <a:endParaRPr lang="en-US" sz="1300" dirty="0"/>
          </a:p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今天起：设计自己的关卡</a:t>
            </a:r>
            <a:endParaRPr lang="en-US" sz="1300" dirty="0"/>
          </a:p>
          <a:p>
            <a:pPr marL="114300" indent="-114300" algn="l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今天定的方向，会做满6课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3508772"/>
            <a:ext cx="8128099" cy="806351"/>
          </a:xfrm>
          <a:prstGeom prst="roundRect">
            <a:avLst>
              <a:gd name="adj" fmla="val 15750"/>
            </a:avLst>
          </a:prstGeom>
          <a:solidFill>
            <a:srgbClr val="E6FCF5"/>
          </a:solidFill>
          <a:ln w="9525">
            <a:solidFill>
              <a:srgbClr val="B2F2E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6075" y="3683347"/>
            <a:ext cx="7804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B7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「你已经证明了能看懂好关卡怎么搭。今天开始，你要回答一个更难的问题——你自己想让玩家经历什么？」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900" y="330101"/>
            <a:ext cx="0" cy="669875"/>
          </a:xfrm>
          <a:prstGeom prst="line">
            <a:avLst/>
          </a:prstGeom>
          <a:noFill/>
          <a:ln w="114300">
            <a:solidFill>
              <a:srgbClr val="0CA6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201" y="330101"/>
            <a:ext cx="812231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思维翻转：逆向拆解 vs 正向设计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49201" y="799951"/>
            <a:ext cx="81223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7A6A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同一套分析结构，方向完全相反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50" y="1177677"/>
          <a:ext cx="8280351" cy="3238500"/>
        </p:xfrm>
        <a:graphic>
          <a:graphicData uri="http://schemas.openxmlformats.org/drawingml/2006/table">
            <a:tbl>
              <a:tblPr/>
              <a:tblGrid>
                <a:gridCol w="1821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9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9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分析对象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拆解时(逆向)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设计时(正向)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CA678"/>
                          </a:solidFill>
                        </a:rPr>
                        <a:t>提问方向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它为什么这样设计？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我想让玩家体验什么？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CA678"/>
                          </a:solidFill>
                        </a:rPr>
                        <a:t>难度曲线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读：识别1→10的节奏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画：先定目标曲线再反推内容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CA678"/>
                          </a:solidFill>
                        </a:rPr>
                        <a:t>敌人分布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读：统计类型×关卡段数量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布：主动编排遭遇节奏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CA678"/>
                          </a:solidFill>
                        </a:rPr>
                        <a:t>引导手法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读：识别明暗引导的用法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用：主动选择并布置引导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CA678"/>
                          </a:solidFill>
                        </a:rPr>
                        <a:t>环境叙事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读：解读空间讲了什么故事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346"/>
                          </a:solidFill>
                        </a:rPr>
                        <a:t>写：用空间讲自己的故事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01" y="330101"/>
            <a:ext cx="834257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关卡设计的构建过程（7 步）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82501" y="825401"/>
            <a:ext cx="83425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250" dirty="0">
                <a:solidFill>
                  <a:srgbClr val="BFE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从"为什么做"到"怎么做"，再到"哪里会出问题"——一条完整的设计思考链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2501" y="1212652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4426" y="1336477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目标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4426" y="1584127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为什么要设计这个关卡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97014" y="1212652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8939" y="1336477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主题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8939" y="1584127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关卡主题是什么（暗杀/逃脱…）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2501" y="1987153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426" y="2110978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元素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426" y="2358628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可用到哪些元素（敌人/NPC/交互物）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7014" y="1987153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8939" y="2110978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关卡流程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8939" y="2358628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起点-经历-终点，重逻辑性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501" y="2761655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4426" y="2885480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玩家体验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426" y="3133130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玩家玩时会有什么感受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7014" y="2761655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58939" y="2885480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⑥ 桥段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8939" y="3133130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乐趣剧本，含空间/视觉构思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501" y="3536156"/>
            <a:ext cx="2900214" cy="660202"/>
          </a:xfrm>
          <a:prstGeom prst="roundRect">
            <a:avLst>
              <a:gd name="adj" fmla="val 17313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4426" y="3659981"/>
            <a:ext cx="26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⑦ 问题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426" y="3907631"/>
            <a:ext cx="262789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反思问题，能否用元素解决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501" y="4348758"/>
            <a:ext cx="8178998" cy="453926"/>
          </a:xfrm>
          <a:prstGeom prst="roundRect">
            <a:avLst>
              <a:gd name="adj" fmla="val 25180"/>
            </a:avLst>
          </a:prstGeom>
          <a:solidFill>
            <a:srgbClr val="3B5B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3883" y="4475708"/>
            <a:ext cx="7876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 5 步搭"逻辑骨架"，第 6 步加"乐趣与画面"，第 7 步做"自我检验"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651" y="304800"/>
            <a:ext cx="0" cy="631775"/>
          </a:xfrm>
          <a:prstGeom prst="line">
            <a:avLst/>
          </a:prstGeom>
          <a:noFill/>
          <a:ln w="114300">
            <a:solidFill>
              <a:srgbClr val="0CA6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99951" y="304800"/>
            <a:ext cx="80187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逻辑骨架：目标 → 主题 → 元素 → 流程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9951" y="736550"/>
            <a:ext cx="8018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7A6A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前四步定"这一关是什么、由什么组成、怎么走"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2501" y="1088975"/>
            <a:ext cx="8178998" cy="746224"/>
          </a:xfrm>
          <a:prstGeom prst="roundRect">
            <a:avLst>
              <a:gd name="adj" fmla="val 17019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297037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0CA6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1875" y="1297037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2978" y="1225451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目标：为什么设计这个关卡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2978" y="1501676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它在整个游戏里承担什么功能？教学？剧情推进？考验某个能力？——先想清楚"为什么要有这一关"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2501" y="1936700"/>
            <a:ext cx="8178998" cy="746224"/>
          </a:xfrm>
          <a:prstGeom prst="roundRect">
            <a:avLst>
              <a:gd name="adj" fmla="val 17019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5176" y="2144762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0CA6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1875" y="2144762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2978" y="2073176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主题：这个关卡的主题是什么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2978" y="2349401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用一个动词/情境概括：暗杀、逃脱、守卫、追逐、潜入……主题决定整关的基调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501" y="2784425"/>
            <a:ext cx="8178998" cy="746224"/>
          </a:xfrm>
          <a:prstGeom prst="roundRect">
            <a:avLst>
              <a:gd name="adj" fmla="val 17019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5176" y="2992487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0CA6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1875" y="2992487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2978" y="2920901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元素：可以用到哪些元素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2978" y="3197126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敌人（什么样的敌人）／NPC（有什么故事的NPC）／交互物体／机关道具……列出你的"工具箱"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501" y="3632150"/>
            <a:ext cx="8178998" cy="746224"/>
          </a:xfrm>
          <a:prstGeom prst="roundRect">
            <a:avLst>
              <a:gd name="adj" fmla="val 17019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5176" y="3840212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0CA6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1875" y="3840212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2978" y="3768626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关卡流程：起点 - 经历 - 终点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2978" y="4044851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关注</a:t>
            </a:r>
            <a:r>
              <a:rPr lang="en-US" sz="1150" b="1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逻辑性</a:t>
            </a: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（玩家先做什么、再做什么、为什么），</a:t>
            </a:r>
            <a:r>
              <a:rPr lang="en-US" sz="1150" b="1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暂不管</a:t>
            </a: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空间和视觉布局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651" y="304800"/>
            <a:ext cx="0" cy="631775"/>
          </a:xfrm>
          <a:prstGeom prst="line">
            <a:avLst/>
          </a:prstGeom>
          <a:noFill/>
          <a:ln w="114300">
            <a:solidFill>
              <a:srgbClr val="7048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99951" y="304800"/>
            <a:ext cx="80187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血肉与检验：体验 → 桥段 → 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9951" y="736550"/>
            <a:ext cx="8018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7A6A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后三步让关卡"有乐趣、有画面、经得起推敲"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2501" y="1088975"/>
            <a:ext cx="8178998" cy="771525"/>
          </a:xfrm>
          <a:prstGeom prst="roundRect">
            <a:avLst>
              <a:gd name="adj" fmla="val 16461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309688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704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1875" y="1309688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2978" y="1238101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玩家体验：玩家会有什么感受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2978" y="1514326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玩到这关时，玩家的情绪是紧张、好奇、成就感、还是压迫？——体验是设计的验收标准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2501" y="1974800"/>
            <a:ext cx="8178998" cy="968573"/>
          </a:xfrm>
          <a:prstGeom prst="roundRect">
            <a:avLst>
              <a:gd name="adj" fmla="val 13112"/>
            </a:avLst>
          </a:prstGeom>
          <a:solidFill>
            <a:srgbClr val="F3F0FF"/>
          </a:solidFill>
          <a:ln w="9525">
            <a:solidFill>
              <a:srgbClr val="D0B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5176" y="2294037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704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1875" y="2294037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2978" y="2123926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桥段：游戏的乐趣剧本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2978" y="2400151"/>
            <a:ext cx="7390763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设计具体的高光片段：潜行但离敌人很近／近战武器开局／与大型Boss战斗……</a:t>
            </a:r>
            <a:r>
              <a:rPr lang="en-US" sz="1150" b="1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这一步才加入空间和视觉布局的构思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501" y="3057674"/>
            <a:ext cx="8178998" cy="771525"/>
          </a:xfrm>
          <a:prstGeom prst="roundRect">
            <a:avLst>
              <a:gd name="adj" fmla="val 16461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5176" y="3278386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704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1875" y="3278386"/>
            <a:ext cx="33670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2978" y="3206800"/>
            <a:ext cx="7390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问题：反思与解决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2978" y="3483025"/>
            <a:ext cx="7390763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2"/>
              </a:lnSpc>
              <a:spcBef>
                <a:spcPts val="300"/>
              </a:spcBef>
              <a:buNone/>
            </a:pPr>
            <a:r>
              <a:rPr lang="en-US" sz="115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回看前面所有内容会不会出问题（卡关？无聊？逻辑断裂？）——</a:t>
            </a:r>
            <a:r>
              <a:rPr lang="en-US" sz="1150" b="1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能否通过调整"元素"来解决？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5100" y="253901"/>
            <a:ext cx="0" cy="622250"/>
          </a:xfrm>
          <a:prstGeom prst="line">
            <a:avLst/>
          </a:prstGeom>
          <a:noFill/>
          <a:ln w="1143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25401" y="253901"/>
            <a:ext cx="79668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现场共创：用7步给《尼尔》设计下一关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5401" y="685651"/>
            <a:ext cx="79668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150" dirty="0">
                <a:solidFill>
                  <a:srgbClr val="7A6A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用最熟悉的素材，把七步流程扶着走一遍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7950" y="1028551"/>
            <a:ext cx="8128099" cy="620613"/>
          </a:xfrm>
          <a:prstGeom prst="roundRect">
            <a:avLst>
              <a:gd name="adj" fmla="val 1841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0626" y="1139577"/>
            <a:ext cx="78568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目标 + ② 主题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0626" y="1364903"/>
            <a:ext cx="7856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这一关想承担什么功能？主题是什么（追逐/潜入/守卫…）？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1725364"/>
            <a:ext cx="8128099" cy="620613"/>
          </a:xfrm>
          <a:prstGeom prst="roundRect">
            <a:avLst>
              <a:gd name="adj" fmla="val 1841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0626" y="1836390"/>
            <a:ext cx="78568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元素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0626" y="2061716"/>
            <a:ext cx="7856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延续《尼尔》世界观，你会用哪些敌人/NPC/交互物？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950" y="2422178"/>
            <a:ext cx="8128099" cy="620613"/>
          </a:xfrm>
          <a:prstGeom prst="roundRect">
            <a:avLst>
              <a:gd name="adj" fmla="val 1841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0626" y="2533204"/>
            <a:ext cx="78568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流程 + ⑤ 体验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0626" y="2758529"/>
            <a:ext cx="7856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起点-经历-终点怎么走？想让玩家产生什么感受？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7950" y="3118991"/>
            <a:ext cx="8128099" cy="620613"/>
          </a:xfrm>
          <a:prstGeom prst="roundRect">
            <a:avLst>
              <a:gd name="adj" fmla="val 18417"/>
            </a:avLst>
          </a:prstGeom>
          <a:solidFill>
            <a:srgbClr val="FFFFFF"/>
          </a:solidFill>
          <a:ln w="9525">
            <a:solidFill>
              <a:srgbClr val="E6E9F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0626" y="3230017"/>
            <a:ext cx="78568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⑥ 桥段 + ⑦ 问题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0626" y="3455343"/>
            <a:ext cx="7856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设计一个高光片段（含画面构思）；再反思它可能出什么问题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950" y="3892004"/>
            <a:ext cx="8128099" cy="419100"/>
          </a:xfrm>
          <a:prstGeom prst="roundRect">
            <a:avLst>
              <a:gd name="adj" fmla="val 27273"/>
            </a:avLst>
          </a:prstGeom>
          <a:solidFill>
            <a:srgbClr val="2414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9841" y="4006304"/>
            <a:ext cx="78243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E3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这不是最终作业，只是扶着走一遍——别想着一次做对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1871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本课作业 + 下节预告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793552"/>
            <a:ext cx="818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250" dirty="0">
                <a:solidFill>
                  <a:srgbClr val="BFE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用七步流程，为你自己的原创关卡写第一版设计初稿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58701" y="1155502"/>
            <a:ext cx="8026598" cy="1692622"/>
          </a:xfrm>
          <a:prstGeom prst="roundRect">
            <a:avLst>
              <a:gd name="adj" fmla="val 9004"/>
            </a:avLst>
          </a:prstGeom>
          <a:solidFill>
            <a:srgbClr val="1A4438"/>
          </a:solidFill>
          <a:ln w="9525">
            <a:solidFill>
              <a:srgbClr val="2D5F4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7576" y="1342727"/>
            <a:ext cx="75978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8EE6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作业4：《关卡设计初稿》（按七步填写）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7576" y="1669703"/>
            <a:ext cx="7448848" cy="9404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目标 + ② 主题：为什么做这一关 + 一句话主题（暗杀/逃脱/…）</a:t>
            </a:r>
            <a:endParaRPr lang="en-US" sz="1150" dirty="0"/>
          </a:p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元素 + ④ 流程：列出敌人/NPC/交互物 + 起点-经历-终点的逻辑流程</a:t>
            </a:r>
            <a:endParaRPr lang="en-US" sz="1150" dirty="0"/>
          </a:p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体验 + ⑥ 桥段：目标玩家感受 + 至少1个乐趣桥段（含画面构思）</a:t>
            </a:r>
            <a:endParaRPr lang="en-US" sz="1150" dirty="0"/>
          </a:p>
          <a:p>
            <a:pPr marL="114300" indent="-114300" algn="l">
              <a:lnSpc>
                <a:spcPts val="1552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7F5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⑦ 问题：反思可能的问题，并说明如何用元素解决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8701" y="2975074"/>
            <a:ext cx="8026598" cy="488752"/>
          </a:xfrm>
          <a:prstGeom prst="roundRect">
            <a:avLst>
              <a:gd name="adj" fmla="val 25984"/>
            </a:avLst>
          </a:prstGeom>
          <a:solidFill>
            <a:srgbClr val="3B5B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602" y="3114675"/>
            <a:ext cx="76691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🔜 </a:t>
            </a:r>
            <a:r>
              <a:rPr lang="en-US" sz="1250" b="1" dirty="0">
                <a:solidFill>
                  <a:srgbClr val="FFE3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下节课（第5课）：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把这份七步初稿落成第一版关卡平面图与动线设计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900" y="279350"/>
            <a:ext cx="0" cy="571500"/>
          </a:xfrm>
          <a:prstGeom prst="line">
            <a:avLst/>
          </a:prstGeom>
          <a:noFill/>
          <a:ln w="114300">
            <a:solidFill>
              <a:srgbClr val="0CA6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3751" y="279350"/>
            <a:ext cx="814826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41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案例与参考资料清单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3751" y="669875"/>
            <a:ext cx="8148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050" dirty="0">
                <a:solidFill>
                  <a:srgbClr val="7A6A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本课提到的所有游戏案例，课后可自行查阅深入学习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31750" y="977801"/>
            <a:ext cx="8280499" cy="314325"/>
          </a:xfrm>
          <a:prstGeom prst="roundRect">
            <a:avLst>
              <a:gd name="adj" fmla="val 24242"/>
            </a:avLst>
          </a:prstGeom>
          <a:solidFill>
            <a:srgbClr val="0CA67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977801"/>
            <a:ext cx="2195855" cy="31432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84549" y="977801"/>
            <a:ext cx="2533772" cy="31432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游戏/资料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68639" y="977801"/>
            <a:ext cx="3716179" cy="31432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参考链接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1750" y="1606153"/>
            <a:ext cx="8280499" cy="0"/>
          </a:xfrm>
          <a:prstGeom prst="line">
            <a:avLst/>
          </a:prstGeom>
          <a:noFill/>
          <a:ln w="9525">
            <a:solidFill>
              <a:srgbClr val="E6E9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31750" y="1292126"/>
            <a:ext cx="2195855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课堂主案例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84549" y="1292126"/>
            <a:ext cx="2533772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《尼尔:机械纪元》序章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68639" y="1292126"/>
            <a:ext cx="3716179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B5B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B站 BV1jD4y1d7ZN（全流程解说合集）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1750" y="1610916"/>
            <a:ext cx="8280499" cy="318790"/>
          </a:xfrm>
          <a:prstGeom prst="rect">
            <a:avLst/>
          </a:prstGeom>
          <a:solidFill>
            <a:srgbClr val="FAFB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1750" y="1924943"/>
            <a:ext cx="8280499" cy="0"/>
          </a:xfrm>
          <a:prstGeom prst="line">
            <a:avLst/>
          </a:prstGeom>
          <a:noFill/>
          <a:ln w="9525">
            <a:solidFill>
              <a:srgbClr val="E6E9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1750" y="1610916"/>
            <a:ext cx="2195855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银河城品类范本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84549" y="1610916"/>
            <a:ext cx="2533772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《空洞骑士》Hollow Knight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68639" y="1610916"/>
            <a:ext cx="3716179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B5B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知乎 zhuanlan.zhihu.com/p/640989285（关卡设计解析）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1750" y="2243733"/>
            <a:ext cx="8280499" cy="0"/>
          </a:xfrm>
          <a:prstGeom prst="line">
            <a:avLst/>
          </a:prstGeom>
          <a:noFill/>
          <a:ln w="9525">
            <a:solidFill>
              <a:srgbClr val="E6E9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31750" y="1929705"/>
            <a:ext cx="2195855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教学段设计范本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84549" y="1929705"/>
            <a:ext cx="2533772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《空洞骑士》新手引导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68639" y="1929705"/>
            <a:ext cx="3716179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B5B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indienova.com（6 Lessons from Hollow Knight 新手引导分析）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1750" y="2248495"/>
            <a:ext cx="8280499" cy="318790"/>
          </a:xfrm>
          <a:prstGeom prst="rect">
            <a:avLst/>
          </a:prstGeom>
          <a:solidFill>
            <a:srgbClr val="FAFB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1750" y="2562523"/>
            <a:ext cx="8280499" cy="0"/>
          </a:xfrm>
          <a:prstGeom prst="line">
            <a:avLst/>
          </a:prstGeom>
          <a:noFill/>
          <a:ln w="9525">
            <a:solidFill>
              <a:srgbClr val="E6E9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31750" y="2248495"/>
            <a:ext cx="2195855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银河城品类范本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84549" y="2248495"/>
            <a:ext cx="2533772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《Ori and the Blind Forest》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68639" y="2248495"/>
            <a:ext cx="3716179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B5B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B站搜索 "Ori and the Blind Forest" 关卡解析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1750" y="2881313"/>
            <a:ext cx="8280499" cy="0"/>
          </a:xfrm>
          <a:prstGeom prst="line">
            <a:avLst/>
          </a:prstGeom>
          <a:noFill/>
          <a:ln w="9525">
            <a:solidFill>
              <a:srgbClr val="E6E9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31750" y="2567285"/>
            <a:ext cx="2195855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设计钩子·空间反转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84549" y="2567285"/>
            <a:ext cx="2533772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《艾尔登法环》黄金树之影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68639" y="2567285"/>
            <a:ext cx="3716179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B5B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B站 BV1Qs4y157uw（DLC解读）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1750" y="2886075"/>
            <a:ext cx="8280499" cy="318790"/>
          </a:xfrm>
          <a:prstGeom prst="rect">
            <a:avLst/>
          </a:prstGeom>
          <a:solidFill>
            <a:srgbClr val="FAFB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31750" y="3200102"/>
            <a:ext cx="8280499" cy="0"/>
          </a:xfrm>
          <a:prstGeom prst="line">
            <a:avLst/>
          </a:prstGeom>
          <a:noFill/>
          <a:ln w="9525">
            <a:solidFill>
              <a:srgbClr val="E6E9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31750" y="2886075"/>
            <a:ext cx="2195855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小而精范本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84549" y="2886075"/>
            <a:ext cx="2533772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A33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《Celeste》《Inside》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68639" y="2886075"/>
            <a:ext cx="3716179" cy="309265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3B5B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课后自行搜索通关流程视频，参考流程时长与关卡量级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1329</Words>
  <Application>Microsoft Office PowerPoint</Application>
  <PresentationFormat>全屏显示(16:9)</PresentationFormat>
  <Paragraphs>138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关卡立项：从想拆到想做 · 第4课课件</dc:title>
  <dc:subject>PptxGenJS Presentation</dc:subject>
  <dc:creator>游戏策划培训</dc:creator>
  <cp:lastModifiedBy>Isaac Hsia</cp:lastModifiedBy>
  <cp:revision>1</cp:revision>
  <dcterms:created xsi:type="dcterms:W3CDTF">2026-07-11T09:25:05Z</dcterms:created>
  <dcterms:modified xsi:type="dcterms:W3CDTF">2026-07-11T16:17:54Z</dcterms:modified>
</cp:coreProperties>
</file>