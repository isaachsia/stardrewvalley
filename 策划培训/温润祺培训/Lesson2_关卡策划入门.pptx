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C60488-A225-C043-874B-753F84AFAEFF}" v="1" dt="2026-06-28T03:39:38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873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Hsia" userId="f4b1939e074e8321" providerId="LiveId" clId="{AE9EC830-EA68-5C49-B383-4323ECEBB39C}"/>
    <pc:docChg chg="custSel addSld modSld">
      <pc:chgData name="Isaac Hsia" userId="f4b1939e074e8321" providerId="LiveId" clId="{AE9EC830-EA68-5C49-B383-4323ECEBB39C}" dt="2026-06-28T03:40:46.432" v="55" actId="1076"/>
      <pc:docMkLst>
        <pc:docMk/>
      </pc:docMkLst>
      <pc:sldChg chg="delSp mod">
        <pc:chgData name="Isaac Hsia" userId="f4b1939e074e8321" providerId="LiveId" clId="{AE9EC830-EA68-5C49-B383-4323ECEBB39C}" dt="2026-06-27T14:35:02.174" v="0" actId="478"/>
        <pc:sldMkLst>
          <pc:docMk/>
          <pc:sldMk cId="0" sldId="257"/>
        </pc:sldMkLst>
        <pc:spChg chg="del">
          <ac:chgData name="Isaac Hsia" userId="f4b1939e074e8321" providerId="LiveId" clId="{AE9EC830-EA68-5C49-B383-4323ECEBB39C}" dt="2026-06-27T14:35:02.174" v="0" actId="478"/>
          <ac:spMkLst>
            <pc:docMk/>
            <pc:sldMk cId="0" sldId="257"/>
            <ac:spMk id="20" creationId="{00000000-0000-0000-0000-000000000000}"/>
          </ac:spMkLst>
        </pc:spChg>
      </pc:sldChg>
      <pc:sldChg chg="delSp mod">
        <pc:chgData name="Isaac Hsia" userId="f4b1939e074e8321" providerId="LiveId" clId="{AE9EC830-EA68-5C49-B383-4323ECEBB39C}" dt="2026-06-27T15:06:38.727" v="1" actId="478"/>
        <pc:sldMkLst>
          <pc:docMk/>
          <pc:sldMk cId="0" sldId="269"/>
        </pc:sldMkLst>
        <pc:spChg chg="del">
          <ac:chgData name="Isaac Hsia" userId="f4b1939e074e8321" providerId="LiveId" clId="{AE9EC830-EA68-5C49-B383-4323ECEBB39C}" dt="2026-06-27T15:06:38.727" v="1" actId="478"/>
          <ac:spMkLst>
            <pc:docMk/>
            <pc:sldMk cId="0" sldId="269"/>
            <ac:spMk id="6" creationId="{00000000-0000-0000-0000-000000000000}"/>
          </ac:spMkLst>
        </pc:spChg>
      </pc:sldChg>
      <pc:sldChg chg="addSp modSp new mod">
        <pc:chgData name="Isaac Hsia" userId="f4b1939e074e8321" providerId="LiveId" clId="{AE9EC830-EA68-5C49-B383-4323ECEBB39C}" dt="2026-06-28T03:40:46.432" v="55" actId="1076"/>
        <pc:sldMkLst>
          <pc:docMk/>
          <pc:sldMk cId="3691786532" sldId="270"/>
        </pc:sldMkLst>
        <pc:spChg chg="add mod">
          <ac:chgData name="Isaac Hsia" userId="f4b1939e074e8321" providerId="LiveId" clId="{AE9EC830-EA68-5C49-B383-4323ECEBB39C}" dt="2026-06-28T03:40:46.432" v="55" actId="1076"/>
          <ac:spMkLst>
            <pc:docMk/>
            <pc:sldMk cId="3691786532" sldId="270"/>
            <ac:spMk id="2" creationId="{220975DA-E700-C4E0-0893-5E6E03B6D7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78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43F5A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1FAB89">
              <a:alpha val="18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82296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关卡策划入门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2  ·  游戏策划培训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学生：温润祺    课程：关卡策划入门    日期：2026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8580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325880" y="1554480"/>
            <a:ext cx="594360" cy="594360"/>
          </a:xfrm>
          <a:prstGeom prst="ellipse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2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明确职业方向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理解单机游戏与商业游戏对新人策划的核心区别，确认个人目标定位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160520" y="1554480"/>
            <a:ext cx="594360" cy="59436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605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关卡策划入门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掌握关卡策划作品集的构成要素与所需核心技能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6995160" y="1554480"/>
            <a:ext cx="594360" cy="594360"/>
          </a:xfrm>
          <a:prstGeom prst="ellipse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9951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关卡设计要素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834640"/>
            <a:ext cx="2240280" cy="77724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了解关卡设计的核心要素：空间、节奏、引导、挑战、叙事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作业分析：想加入的游戏类型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开放大世界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社交功能 — 玩家互动与社区生态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模拟经营 — 系统循环与经济设计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163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大世界地图设计 — 空间规划能力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602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大世界玩法设计 — 开放结构下的内容填充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029200" y="1554480"/>
            <a:ext cx="457200" cy="457200"/>
          </a:xfrm>
          <a:prstGeom prst="ellipse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1600200"/>
            <a:ext cx="731520" cy="320040"/>
          </a:xfrm>
          <a:prstGeom prst="roundRect">
            <a:avLst>
              <a:gd name="adj" fmla="val 22857"/>
            </a:avLst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406640" y="1600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重点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6928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RPG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空间探索 — 3D 环境下的垂直/水平探索设计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 &amp; 角色叙事 — 环境叙事与角色塑造融合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分析：3D RPG 更适合关卡策划方向，推荐作为主攻类型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游戏拆解：进步点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8580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空间结构识别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识别「假开放真线性」（高台/悬崖锁路线）、垂直分层探索（上下层+隐藏地板）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54864" cy="10972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引导设计区分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71907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区分明引导（草丛/陷阱/铃铛教学点）与暗引导，理解两类引导的配合机制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" cy="10972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探索节奏把控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9992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单向门/竖井/捷径解锁，「即使有地图也会迷路」的不确定性设计思路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5603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54864" cy="10972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83480" y="2651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难度曲线归纳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9992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自发归纳出教学→变招→熟练→Boss 的节奏模型，体现系统性思考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54864" cy="10972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85800" y="3931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能力门控理解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27939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能力锁→新区域（钩索/潜水/滑翔伞），掌握银河城关卡探索的核心逻辑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游戏拆解：优化方向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9601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444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缺设计原则归纳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17647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分析偏「逐点描述」，需要提炼为什么这样设计、可复用的法则是什么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155448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53796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从「描述现象」升级到「归纳设计原则」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4864" cy="9601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77240" y="25603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633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文档结构待优化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2953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未建立标准关卡设计文档（LDD）的字段意识，需帮助读者理解游戏 &amp; 理解你的设计思维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37960" y="274320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3796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 LDD 文档规范意识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960120"/>
          </a:xfrm>
          <a:prstGeom prst="rect">
            <a:avLst/>
          </a:prstGeom>
          <a:solidFill>
            <a:srgbClr val="FFF8F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54864" cy="9601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77240" y="3749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25880" y="3822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缺少量化语言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如「前 X 分钟教学、敌人密度每 X 米一个」，让设计可被评估和验证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37960" y="3931920"/>
            <a:ext cx="1920240" cy="548640"/>
          </a:xfrm>
          <a:prstGeom prst="roundRect">
            <a:avLst>
              <a:gd name="adj" fmla="val 10000"/>
            </a:avLst>
          </a:prstGeom>
          <a:solidFill>
            <a:srgbClr val="FFF3CD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37960" y="3931920"/>
            <a:ext cx="19202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用量化指标支撑设计决策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核心改进方向：从「描述」走向「归纳」，从「感性」走向「量化」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0975DA-E700-C4E0-0893-5E6E03B6D724}"/>
              </a:ext>
            </a:extLst>
          </p:cNvPr>
          <p:cNvSpPr txBox="1"/>
          <p:nvPr/>
        </p:nvSpPr>
        <p:spPr>
          <a:xfrm>
            <a:off x="1913259" y="2218460"/>
            <a:ext cx="5317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/>
              <a:t>商业化服务型游戏 </a:t>
            </a:r>
            <a:r>
              <a:rPr kumimoji="1" lang="en-US" altLang="zh-CN" sz="2800"/>
              <a:t>vs</a:t>
            </a:r>
            <a:r>
              <a:rPr kumimoji="1" lang="zh-CN" altLang="en-US" sz="2800"/>
              <a:t> 买断制游戏</a:t>
            </a:r>
          </a:p>
        </p:txBody>
      </p:sp>
    </p:spTree>
    <p:extLst>
      <p:ext uri="{BB962C8B-B14F-4D97-AF65-F5344CB8AC3E}">
        <p14:creationId xmlns:p14="http://schemas.microsoft.com/office/powerpoint/2010/main" val="3691786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43F5A">
              <a:alpha val="10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单机策划 vs 商业化手游策划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运营模式决定工作方式、成长路径与职业天花板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822960" cy="457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商业化游戏（GaaS）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服务型游戏 · 长期运营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用户付费驱动 · 数据导向迭代</a:t>
            </a:r>
            <a:endParaRPr lang="en-US" sz="13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产品上限为起点 · 持续内容更新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3931920" cy="2560320"/>
          </a:xfrm>
          <a:prstGeom prst="roundRect">
            <a:avLst>
              <a:gd name="adj" fmla="val 4286"/>
            </a:avLst>
          </a:prstGeom>
          <a:solidFill>
            <a:srgbClr val="252540"/>
          </a:solidFill>
          <a:ln w="19050">
            <a:solidFill>
              <a:srgbClr val="1FAB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029200" y="2194560"/>
            <a:ext cx="822960" cy="4572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单机买断制游戏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2834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内容驱动 · 口碑传播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291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一次性买断 · 作者驱动设计</a:t>
            </a:r>
            <a:endParaRPr lang="en-US" sz="13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3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上线作为终点 · 靠内容品质取胜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全方位对比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80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商业化游戏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88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单机游戏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AB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起薪较高、旱涝保收、定时分红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起薪较低、回报后置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上线回收快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不稳定，研发期长依赖稳定投产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岗位数量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极多（95%+）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少数团队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对应届生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校招通道较多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保守，经验要求高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成长方向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方法论+数据导向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设计内容导向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缺亮眼项目经历则转向单机较难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门槛高，非头部团队风险较高、待遇较差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1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新人入行建议：商业游戏岗位多、成长体系完善；单机游戏注重内容创造力，可作为长期方向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FAB89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关卡策划作品集构成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一份完整的关卡策划作品集应包含三大模块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52540"/>
          </a:solidFill>
          <a:ln w="12700">
            <a:solidFill>
              <a:srgbClr val="E43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关卡作品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关卡白盒（可玩）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19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交互逻辑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667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难度曲线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0142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怪物/事件布局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3616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环境叙事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52540"/>
          </a:solidFill>
          <a:ln w="12700">
            <a:solidFill>
              <a:srgbClr val="1FAB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A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设计文档与表达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关卡设计文档 LDD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19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平面图与动线图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6667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设计思路表达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01421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协作流程说明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252540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309360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游戏拆解作品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深度关卡拆解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319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改进设计提案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66674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差异化优势包装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关卡作品核心内容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06040" cy="4572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21792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关卡白盒（可玩）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 分钟可玩关卡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地图结构 · 动线垂直分层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267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捷径/回路 · 地标布置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523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玩家动线 · 游戏引导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7797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玩法展示 · 探索节奏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91840" y="1234440"/>
            <a:ext cx="2606040" cy="4572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简单交互逻辑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56432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56432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触发器机制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56432" y="2267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开门/关门逻辑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2523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能力门控（钥匙/解谜）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126480" y="1234440"/>
            <a:ext cx="2606040" cy="4572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291072" y="13990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难度曲线设计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91072" y="1709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核心节奏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教学→解题→组合→考验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91072" y="2267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战斗→解谜→修整的节奏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417320" y="3246120"/>
            <a:ext cx="2606040" cy="4572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581912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怪物/事件布局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581912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A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遭遇设计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81912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体现遭遇设计意图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81912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展示战斗节奏把控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251960" y="3246120"/>
            <a:ext cx="2606040" cy="4572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416552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环境叙事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416552" y="37216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1FAB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空间讲故事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16552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场景/道具/布局叙事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16552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关卡与世界观角色融合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设计文档与表达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05840" y="1645920"/>
            <a:ext cx="822960" cy="822960"/>
          </a:xfrm>
          <a:prstGeom prst="ellipse">
            <a:avLst/>
          </a:prstGeom>
          <a:solidFill>
            <a:srgbClr val="E43F5A">
              <a:alpha val="85000"/>
            </a:srgbClr>
          </a:solidFill>
          <a:ln w="19050">
            <a:solidFill>
              <a:srgbClr val="E43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关卡设计文档 LDD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1645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设计目标 · 空间结构 · 动线分析</a:t>
            </a:r>
            <a:endParaRPr lang="en-US" sz="10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引导设计 · 节奏规划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154680" y="1645920"/>
            <a:ext cx="822960" cy="822960"/>
          </a:xfrm>
          <a:prstGeom prst="ellipse">
            <a:avLst/>
          </a:prstGeom>
          <a:solidFill>
            <a:srgbClr val="1FAB89">
              <a:alpha val="85000"/>
            </a:srgbClr>
          </a:solidFill>
          <a:ln w="19050">
            <a:solidFill>
              <a:srgbClr val="1FAB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1546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🗺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平面图与动线图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1645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标注路径/地标等关键位置</a:t>
            </a:r>
            <a:endParaRPr lang="en-US" sz="10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可视化呈现空间设计思路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03520" y="1645920"/>
            <a:ext cx="822960" cy="822960"/>
          </a:xfrm>
          <a:prstGeom prst="ellipse">
            <a:avLst/>
          </a:prstGeom>
          <a:solidFill>
            <a:srgbClr val="F0883E">
              <a:alpha val="85000"/>
            </a:srgbClr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3035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设计思路表达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1645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用专业方式表达设计内容</a:t>
            </a:r>
            <a:endParaRPr lang="en-US" sz="10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清晰的逻辑 &gt; 华丽的辞藻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452360" y="1645920"/>
            <a:ext cx="822960" cy="822960"/>
          </a:xfrm>
          <a:prstGeom prst="ellipse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74523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40880" y="2697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协作流程对接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3108960"/>
            <a:ext cx="16459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与战斗/数值/美术/程序</a:t>
            </a:r>
            <a:endParaRPr lang="en-US" sz="105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需对接内容清晰列出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8F0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文档是关卡策划的「第二张脸」—— 好的文档能替你说话，差的文档会埋没你的设计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设计草稿方法论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05840" y="1325880"/>
            <a:ext cx="502920" cy="502920"/>
          </a:xfrm>
          <a:prstGeom prst="ellipse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0584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为什么设计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这个关卡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286000" y="1828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51460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004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0604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逃脱/暗杀/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潜入/…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80560" y="1828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916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5394960" y="1325880"/>
            <a:ext cx="502920" cy="502920"/>
          </a:xfrm>
          <a:prstGeom prst="ellipse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3949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敌人/NPC/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道具/场景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0" y="1828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903720" y="118872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7589520" y="13258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5895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1920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9516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长期+短期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目标结合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417320" y="29260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2103120" y="30632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1031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50876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桥段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08760" y="397764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游戏风格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关键时刻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8328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611880" y="29260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297680" y="306324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2976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70332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703320" y="397764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元素→方案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解决设计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7784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806440" y="292608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492240" y="3063240"/>
            <a:ext cx="502920" cy="502920"/>
          </a:xfrm>
          <a:prstGeom prst="ellipse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4922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897880" y="3657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终点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897880" y="397764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关卡成功</a:t>
            </a:r>
            <a:endParaRPr lang="en-US" sz="10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结束条件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「先关注设计案的逻辑性，而不是空间感和视觉性布局——这个可以之后再考虑」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游戏拆解作品 &amp; 差异化优势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128016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游戏拆解作品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深度关卡拆解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377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图文并茂，条理清晰，从空间/引导/节奏/叙事多维度分析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改进设计提案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基于拆解结论，系统性地提出自己的改进方案与设计思路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680960" y="1371600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F0883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680960" y="1371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加分项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411480" cy="411480"/>
          </a:xfrm>
          <a:prstGeom prst="ellipse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557784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差异化优势包装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029200" y="2103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关卡叙事 / 空间美学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377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用场景布局讲故事，展示雕塑/装置作品的空间设计能力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从雕塑到游戏策划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在作品集/简历中阐明跨专业选择游戏策划的原因与思考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差异化 = 你的独特背景 + 行业的通用需求。雕塑/装置的「空间设计」能力 → 关卡策划的「空间叙事」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EE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E43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73152" cy="41148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" cy="137160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38912" cy="438912"/>
          </a:xfrm>
          <a:prstGeom prst="ellipse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44" dirty="0"/>
          </a:p>
        </p:txBody>
      </p:sp>
      <p:sp>
        <p:nvSpPr>
          <p:cNvPr id="10" name="Text 8"/>
          <p:cNvSpPr/>
          <p:nvPr/>
        </p:nvSpPr>
        <p:spPr>
          <a:xfrm>
            <a:off x="1417320" y="1417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归纳总结：关卡设计五要素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你是如何理解关卡设计的五个要素的？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17320" y="219456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0F0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41732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219456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0F0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86200" y="219456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0F0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88620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0F0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12064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194560"/>
            <a:ext cx="1051560" cy="292608"/>
          </a:xfrm>
          <a:prstGeom prst="roundRect">
            <a:avLst>
              <a:gd name="adj" fmla="val 15625"/>
            </a:avLst>
          </a:prstGeom>
          <a:solidFill>
            <a:srgbClr val="F0F0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3F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CDD1D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54864" cy="2011680"/>
          </a:xfrm>
          <a:prstGeom prst="rect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77240" y="3017520"/>
            <a:ext cx="438912" cy="438912"/>
          </a:xfrm>
          <a:prstGeom prst="ellipse">
            <a:avLst/>
          </a:prstGeom>
          <a:solidFill>
            <a:srgbClr val="1FAB8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7240" y="3017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417320" y="3017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选取一款游戏的线性关卡，做系统关卡分析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附上必要的图片/视频，下节课开始时进行口述展示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17320" y="3749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画出关卡示意图（3D俯视图/2D侧视图）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17320" y="4069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空间概念说明 + 设计用意与理由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417320" y="4389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标出 1-2 处成功引导，说明理由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749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分析关卡难度曲线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4069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分析怪物布局与事件布局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4389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B1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分析关卡环境叙事设计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1FAB89">
              <a:alpha val="1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43F5A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下期预告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0" y="1417320"/>
            <a:ext cx="1463040" cy="45720"/>
          </a:xfrm>
          <a:prstGeom prst="rect">
            <a:avLst/>
          </a:prstGeom>
          <a:solidFill>
            <a:srgbClr val="E43F5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6400800" cy="1828800"/>
          </a:xfrm>
          <a:prstGeom prst="roundRect">
            <a:avLst>
              <a:gd name="adj" fmla="val 6000"/>
            </a:avLst>
          </a:prstGeom>
          <a:solidFill>
            <a:srgbClr val="252540"/>
          </a:solidFill>
          <a:ln w="12700">
            <a:solidFill>
              <a:srgbClr val="E43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645920" y="2697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本节课要点回顾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3154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 vs 商业游戏：两种完全不同的职业路径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828800" y="3474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关卡策划作品集 = 关卡作品 + 设计文档 + 拆解作品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0" y="3794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设计草稿七步法：从「为什么做」到「怎么完成」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28800" y="41148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E8E8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差异化优势 = 你的独特背景 × 行业通用需求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CCC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下节课见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657</Words>
  <Application>Microsoft Macintosh PowerPoint</Application>
  <PresentationFormat>全屏显示(16:9)</PresentationFormat>
  <Paragraphs>247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2：关卡策划入门</dc:title>
  <dc:subject>PptxGenJS Presentation</dc:subject>
  <dc:creator>游戏策划培训</dc:creator>
  <cp:lastModifiedBy>Isaac Hsia</cp:lastModifiedBy>
  <cp:revision>1</cp:revision>
  <dcterms:created xsi:type="dcterms:W3CDTF">2026-06-27T14:18:14Z</dcterms:created>
  <dcterms:modified xsi:type="dcterms:W3CDTF">2026-06-28T03:40:51Z</dcterms:modified>
</cp:coreProperties>
</file>