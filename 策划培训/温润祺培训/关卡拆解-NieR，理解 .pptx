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6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c:style val="2"/>
  <c:chart>
    <c:autoTitleDeleted val="1"/>
    <c:plotArea>
      <c:layout>
        <c:manualLayout>
          <c:layoutTarget val="inner"/>
          <c:xMode val="edge"/>
          <c:yMode val="edge"/>
          <c:x val="0.12695600000000001"/>
          <c:y val="0.102046"/>
          <c:w val="0.77989699999999995"/>
          <c:h val="0.71217699999999995"/>
        </c:manualLayout>
      </c:layout>
      <c:lineChart>
        <c:grouping val="standard"/>
        <c:varyColors val="0"/>
        <c:ser>
          <c:idx val="0"/>
          <c:order val="0"/>
          <c:tx>
            <c:strRef>
              <c:f>Sheet1!$A$2</c:f>
              <c:strCache>
                <c:ptCount val="1"/>
                <c:pt idx="0">
                  <c:v>自由度</c:v>
                </c:pt>
              </c:strCache>
            </c:strRef>
          </c:tx>
          <c:spPr>
            <a:ln w="76200" cap="flat">
              <a:solidFill>
                <a:schemeClr val="accent1"/>
              </a:solidFill>
              <a:prstDash val="solid"/>
              <a:miter lim="400000"/>
            </a:ln>
            <a:effectLst/>
          </c:spPr>
          <c:marker>
            <c:symbol val="none"/>
          </c:marker>
          <c:cat>
            <c:strRef>
              <c:f>Sheet1!$B$1:$E$1</c:f>
              <c:strCache>
                <c:ptCount val="4"/>
                <c:pt idx="0">
                  <c:v>柱状工厂前段</c:v>
                </c:pt>
                <c:pt idx="1">
                  <c:v>工厂连接区</c:v>
                </c:pt>
                <c:pt idx="2">
                  <c:v>柱状工厂后段</c:v>
                </c:pt>
                <c:pt idx="3">
                  <c:v>海上平台区</c:v>
                </c:pt>
              </c:strCache>
            </c:strRef>
          </c:cat>
          <c:val>
            <c:numRef>
              <c:f>Sheet1!$B$2:$E$2</c:f>
              <c:numCache>
                <c:formatCode>General</c:formatCode>
                <c:ptCount val="4"/>
                <c:pt idx="0">
                  <c:v>20</c:v>
                </c:pt>
                <c:pt idx="1">
                  <c:v>35</c:v>
                </c:pt>
                <c:pt idx="2">
                  <c:v>50</c:v>
                </c:pt>
                <c:pt idx="3">
                  <c:v>10</c:v>
                </c:pt>
              </c:numCache>
            </c:numRef>
          </c:val>
          <c:smooth val="0"/>
          <c:extLst>
            <c:ext xmlns:c16="http://schemas.microsoft.com/office/drawing/2014/chart" uri="{C3380CC4-5D6E-409C-BE32-E72D297353CC}">
              <c16:uniqueId val="{00000000-6727-4162-BE75-ED576211A417}"/>
            </c:ext>
          </c:extLst>
        </c:ser>
        <c:ser>
          <c:idx val="1"/>
          <c:order val="1"/>
          <c:tx>
            <c:strRef>
              <c:f>Sheet1!$A$3</c:f>
              <c:strCache>
                <c:ptCount val="1"/>
                <c:pt idx="0">
                  <c:v>移动距离</c:v>
                </c:pt>
              </c:strCache>
            </c:strRef>
          </c:tx>
          <c:spPr>
            <a:ln w="76200" cap="flat">
              <a:solidFill>
                <a:schemeClr val="accent3"/>
              </a:solidFill>
              <a:prstDash val="solid"/>
              <a:miter lim="400000"/>
            </a:ln>
            <a:effectLst/>
          </c:spPr>
          <c:marker>
            <c:symbol val="none"/>
          </c:marker>
          <c:cat>
            <c:strRef>
              <c:f>Sheet1!$B$1:$E$1</c:f>
              <c:strCache>
                <c:ptCount val="4"/>
                <c:pt idx="0">
                  <c:v>柱状工厂前段</c:v>
                </c:pt>
                <c:pt idx="1">
                  <c:v>工厂连接区</c:v>
                </c:pt>
                <c:pt idx="2">
                  <c:v>柱状工厂后段</c:v>
                </c:pt>
                <c:pt idx="3">
                  <c:v>海上平台区</c:v>
                </c:pt>
              </c:strCache>
            </c:strRef>
          </c:cat>
          <c:val>
            <c:numRef>
              <c:f>Sheet1!$B$3:$E$3</c:f>
              <c:numCache>
                <c:formatCode>General</c:formatCode>
                <c:ptCount val="4"/>
                <c:pt idx="0">
                  <c:v>20</c:v>
                </c:pt>
                <c:pt idx="1">
                  <c:v>40</c:v>
                </c:pt>
                <c:pt idx="2">
                  <c:v>40</c:v>
                </c:pt>
                <c:pt idx="3">
                  <c:v>20</c:v>
                </c:pt>
              </c:numCache>
            </c:numRef>
          </c:val>
          <c:smooth val="0"/>
          <c:extLst>
            <c:ext xmlns:c16="http://schemas.microsoft.com/office/drawing/2014/chart" uri="{C3380CC4-5D6E-409C-BE32-E72D297353CC}">
              <c16:uniqueId val="{00000001-6727-4162-BE75-ED576211A417}"/>
            </c:ext>
          </c:extLst>
        </c:ser>
        <c:ser>
          <c:idx val="2"/>
          <c:order val="2"/>
          <c:tx>
            <c:strRef>
              <c:f>Sheet1!$A$4</c:f>
              <c:strCache>
                <c:ptCount val="1"/>
                <c:pt idx="0">
                  <c:v>POI数量</c:v>
                </c:pt>
              </c:strCache>
            </c:strRef>
          </c:tx>
          <c:spPr>
            <a:ln w="76200" cap="flat">
              <a:solidFill>
                <a:srgbClr val="929292"/>
              </a:solidFill>
              <a:prstDash val="solid"/>
              <a:miter lim="400000"/>
            </a:ln>
            <a:effectLst/>
          </c:spPr>
          <c:marker>
            <c:symbol val="none"/>
          </c:marker>
          <c:cat>
            <c:strRef>
              <c:f>Sheet1!$B$1:$E$1</c:f>
              <c:strCache>
                <c:ptCount val="4"/>
                <c:pt idx="0">
                  <c:v>柱状工厂前段</c:v>
                </c:pt>
                <c:pt idx="1">
                  <c:v>工厂连接区</c:v>
                </c:pt>
                <c:pt idx="2">
                  <c:v>柱状工厂后段</c:v>
                </c:pt>
                <c:pt idx="3">
                  <c:v>海上平台区</c:v>
                </c:pt>
              </c:strCache>
            </c:strRef>
          </c:cat>
          <c:val>
            <c:numRef>
              <c:f>Sheet1!$B$4:$E$4</c:f>
              <c:numCache>
                <c:formatCode>General</c:formatCode>
                <c:ptCount val="4"/>
                <c:pt idx="0">
                  <c:v>5</c:v>
                </c:pt>
                <c:pt idx="1">
                  <c:v>9</c:v>
                </c:pt>
                <c:pt idx="2">
                  <c:v>20</c:v>
                </c:pt>
                <c:pt idx="3">
                  <c:v>7</c:v>
                </c:pt>
              </c:numCache>
            </c:numRef>
          </c:val>
          <c:smooth val="0"/>
          <c:extLst>
            <c:ext xmlns:c16="http://schemas.microsoft.com/office/drawing/2014/chart" uri="{C3380CC4-5D6E-409C-BE32-E72D297353CC}">
              <c16:uniqueId val="{00000002-6727-4162-BE75-ED576211A417}"/>
            </c:ext>
          </c:extLst>
        </c:ser>
        <c:ser>
          <c:idx val="3"/>
          <c:order val="3"/>
          <c:tx>
            <c:strRef>
              <c:f>Sheet1!$A$5</c:f>
              <c:strCache>
                <c:ptCount val="1"/>
                <c:pt idx="0">
                  <c:v>剧情联系</c:v>
                </c:pt>
              </c:strCache>
            </c:strRef>
          </c:tx>
          <c:spPr>
            <a:ln w="76200" cap="flat">
              <a:solidFill>
                <a:srgbClr val="F8BA00"/>
              </a:solidFill>
              <a:prstDash val="solid"/>
              <a:miter lim="400000"/>
            </a:ln>
            <a:effectLst/>
          </c:spPr>
          <c:marker>
            <c:symbol val="none"/>
          </c:marker>
          <c:cat>
            <c:strRef>
              <c:f>Sheet1!$B$1:$E$1</c:f>
              <c:strCache>
                <c:ptCount val="4"/>
                <c:pt idx="0">
                  <c:v>柱状工厂前段</c:v>
                </c:pt>
                <c:pt idx="1">
                  <c:v>工厂连接区</c:v>
                </c:pt>
                <c:pt idx="2">
                  <c:v>柱状工厂后段</c:v>
                </c:pt>
                <c:pt idx="3">
                  <c:v>海上平台区</c:v>
                </c:pt>
              </c:strCache>
            </c:strRef>
          </c:cat>
          <c:val>
            <c:numRef>
              <c:f>Sheet1!$B$5:$E$5</c:f>
              <c:numCache>
                <c:formatCode>General</c:formatCode>
                <c:ptCount val="4"/>
                <c:pt idx="0">
                  <c:v>10</c:v>
                </c:pt>
                <c:pt idx="1">
                  <c:v>50</c:v>
                </c:pt>
                <c:pt idx="2">
                  <c:v>10</c:v>
                </c:pt>
                <c:pt idx="3">
                  <c:v>80</c:v>
                </c:pt>
              </c:numCache>
            </c:numRef>
          </c:val>
          <c:smooth val="0"/>
          <c:extLst>
            <c:ext xmlns:c16="http://schemas.microsoft.com/office/drawing/2014/chart" uri="{C3380CC4-5D6E-409C-BE32-E72D297353CC}">
              <c16:uniqueId val="{00000003-6727-4162-BE75-ED576211A417}"/>
            </c:ext>
          </c:extLst>
        </c:ser>
        <c:dLbls>
          <c:showLegendKey val="0"/>
          <c:showVal val="0"/>
          <c:showCatName val="0"/>
          <c:showSerName val="0"/>
          <c:showPercent val="0"/>
          <c:showBubbleSize val="0"/>
        </c:dLbls>
        <c:smooth val="0"/>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000000"/>
            </a:solidFill>
            <a:prstDash val="solid"/>
            <a:miter lim="400000"/>
          </a:ln>
        </c:spPr>
        <c:txPr>
          <a:bodyPr rot="0"/>
          <a:lstStyle/>
          <a:p>
            <a:pPr>
              <a:defRPr sz="3400" b="0" i="0" u="none" strike="noStrike">
                <a:solidFill>
                  <a:srgbClr val="000000"/>
                </a:solidFill>
                <a:latin typeface="Helvetica Neue"/>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B8B8B8"/>
              </a:solidFill>
              <a:prstDash val="solid"/>
              <a:miter lim="400000"/>
            </a:ln>
          </c:spPr>
        </c:majorGridlines>
        <c:numFmt formatCode="0" sourceLinked="0"/>
        <c:majorTickMark val="none"/>
        <c:minorTickMark val="none"/>
        <c:tickLblPos val="nextTo"/>
        <c:spPr>
          <a:ln w="12700" cap="flat">
            <a:noFill/>
            <a:prstDash val="solid"/>
            <a:miter lim="400000"/>
          </a:ln>
        </c:spPr>
        <c:txPr>
          <a:bodyPr rot="0"/>
          <a:lstStyle/>
          <a:p>
            <a:pPr>
              <a:defRPr sz="3400" b="0" i="0" u="none" strike="noStrike">
                <a:solidFill>
                  <a:srgbClr val="000000"/>
                </a:solidFill>
                <a:latin typeface="Helvetica Neue"/>
              </a:defRPr>
            </a:pPr>
            <a:endParaRPr lang="zh-CN"/>
          </a:p>
        </c:txPr>
        <c:crossAx val="2094734552"/>
        <c:crosses val="autoZero"/>
        <c:crossBetween val="midCat"/>
        <c:majorUnit val="20"/>
        <c:minorUnit val="10"/>
      </c:valAx>
      <c:spPr>
        <a:noFill/>
        <a:ln w="12700" cap="flat">
          <a:noFill/>
          <a:miter lim="400000"/>
        </a:ln>
        <a:effectLst/>
      </c:spPr>
    </c:plotArea>
    <c:legend>
      <c:legendPos val="r"/>
      <c:layout>
        <c:manualLayout>
          <c:xMode val="edge"/>
          <c:yMode val="edge"/>
          <c:x val="0"/>
          <c:y val="5.3350599999999998E-2"/>
          <c:w val="0.98070500000000005"/>
          <c:h val="0.15044099999999999"/>
        </c:manualLayout>
      </c:layout>
      <c:overlay val="1"/>
      <c:spPr>
        <a:noFill/>
        <a:ln w="12700" cap="flat">
          <a:noFill/>
          <a:miter lim="400000"/>
        </a:ln>
        <a:effectLst/>
      </c:spPr>
      <c:txPr>
        <a:bodyPr rot="0"/>
        <a:lstStyle/>
        <a:p>
          <a:pPr>
            <a:defRPr sz="3400" b="0" i="0" u="none" strike="noStrike">
              <a:solidFill>
                <a:srgbClr val="000000"/>
              </a:solidFill>
              <a:latin typeface="Helvetica Neue"/>
            </a:defRPr>
          </a:pPr>
          <a:endParaRPr lang="zh-CN"/>
        </a:p>
      </c:txPr>
    </c:legend>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可以用</a:t>
            </a:r>
            <a:r>
              <a:rPr lang="en-US" altLang="zh-CN" dirty="0"/>
              <a:t>AI</a:t>
            </a:r>
            <a:r>
              <a:rPr lang="zh-CN" altLang="en-US" dirty="0"/>
              <a:t>，但是生成之后排版一定要检查</a:t>
            </a:r>
          </a:p>
        </p:txBody>
      </p:sp>
    </p:spTree>
    <p:extLst>
      <p:ext uri="{BB962C8B-B14F-4D97-AF65-F5344CB8AC3E}">
        <p14:creationId xmlns:p14="http://schemas.microsoft.com/office/powerpoint/2010/main" val="327040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建议还是使用</a:t>
            </a:r>
            <a:r>
              <a:rPr lang="en-US" altLang="zh-CN" dirty="0"/>
              <a:t>excel</a:t>
            </a:r>
            <a:r>
              <a:rPr lang="zh-CN" altLang="en-US" dirty="0"/>
              <a:t>或者</a:t>
            </a:r>
            <a:r>
              <a:rPr lang="en-US" altLang="zh-CN" dirty="0"/>
              <a:t>word</a:t>
            </a:r>
            <a:r>
              <a:rPr lang="zh-CN" altLang="en-US" dirty="0"/>
              <a:t>的形式，文字表达更加有条理。这里“联络员</a:t>
            </a:r>
            <a:r>
              <a:rPr lang="en-US" altLang="zh-CN" dirty="0"/>
              <a:t>……</a:t>
            </a:r>
            <a:r>
              <a:rPr lang="zh-CN" altLang="en-US" dirty="0"/>
              <a:t>”表示什么？我看下来似乎是关卡目标？</a:t>
            </a:r>
          </a:p>
        </p:txBody>
      </p:sp>
    </p:spTree>
    <p:extLst>
      <p:ext uri="{BB962C8B-B14F-4D97-AF65-F5344CB8AC3E}">
        <p14:creationId xmlns:p14="http://schemas.microsoft.com/office/powerpoint/2010/main" val="44312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a:t>
            </a:r>
            <a:r>
              <a:rPr lang="zh-CN" altLang="en-US" dirty="0"/>
              <a:t>、如果采用手绘图的形式，在手绘图中标注每一个图标的含义，同时重要信息也要标注，例如：“关卡的空间由</a:t>
            </a:r>
            <a:r>
              <a:rPr lang="en-US" altLang="zh-CN" dirty="0"/>
              <a:t>3</a:t>
            </a:r>
            <a:r>
              <a:rPr lang="zh-CN" altLang="en-US" dirty="0"/>
              <a:t>个带电梯的垂直多层圆柱体建筑和一个巨大的长矩形海上平台通过金属桥梁相互连通而成“只看图片无法理解，可以尝试用</a:t>
            </a:r>
            <a:r>
              <a:rPr lang="en-US" altLang="zh-CN" dirty="0" err="1"/>
              <a:t>axure</a:t>
            </a:r>
            <a:r>
              <a:rPr lang="zh-CN" altLang="en-US" dirty="0"/>
              <a:t>等</a:t>
            </a:r>
            <a:r>
              <a:rPr lang="en-US" altLang="zh-CN" dirty="0" err="1"/>
              <a:t>ui</a:t>
            </a:r>
            <a:r>
              <a:rPr lang="zh-CN" altLang="en-US" dirty="0"/>
              <a:t>工具拼出地图。</a:t>
            </a:r>
            <a:endParaRPr lang="en-US" altLang="zh-CN" dirty="0"/>
          </a:p>
          <a:p>
            <a:r>
              <a:rPr lang="en-US" altLang="zh-CN" dirty="0"/>
              <a:t>2</a:t>
            </a:r>
            <a:r>
              <a:rPr lang="zh-CN" altLang="en-US" dirty="0"/>
              <a:t>、强调关卡中的关键节点：起点</a:t>
            </a:r>
            <a:r>
              <a:rPr lang="en-US" altLang="zh-CN" dirty="0"/>
              <a:t>-</a:t>
            </a:r>
            <a:r>
              <a:rPr lang="zh-CN" altLang="en-US" dirty="0"/>
              <a:t>教学点</a:t>
            </a:r>
            <a:r>
              <a:rPr lang="en-US" altLang="zh-CN" dirty="0"/>
              <a:t>-</a:t>
            </a:r>
            <a:r>
              <a:rPr lang="zh-CN" altLang="en-US" dirty="0"/>
              <a:t>终点</a:t>
            </a:r>
            <a:r>
              <a:rPr lang="en-US" altLang="zh-CN" dirty="0"/>
              <a:t>/……</a:t>
            </a:r>
          </a:p>
          <a:p>
            <a:endParaRPr lang="zh-CN" altLang="en-US" dirty="0"/>
          </a:p>
        </p:txBody>
      </p:sp>
    </p:spTree>
    <p:extLst>
      <p:ext uri="{BB962C8B-B14F-4D97-AF65-F5344CB8AC3E}">
        <p14:creationId xmlns:p14="http://schemas.microsoft.com/office/powerpoint/2010/main" val="2820674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a:t>
            </a:r>
            <a:r>
              <a:rPr lang="zh-CN" altLang="en-US" dirty="0"/>
              <a:t>、图片无法理解</a:t>
            </a:r>
            <a:endParaRPr lang="en-US" altLang="zh-CN" dirty="0"/>
          </a:p>
          <a:p>
            <a:r>
              <a:rPr lang="en-US" altLang="zh-CN" dirty="0"/>
              <a:t>2</a:t>
            </a:r>
            <a:r>
              <a:rPr lang="zh-CN" altLang="en-US" dirty="0"/>
              <a:t>、设计目标和实现情况理解难度高，举例说明</a:t>
            </a:r>
          </a:p>
        </p:txBody>
      </p:sp>
    </p:spTree>
    <p:extLst>
      <p:ext uri="{BB962C8B-B14F-4D97-AF65-F5344CB8AC3E}">
        <p14:creationId xmlns:p14="http://schemas.microsoft.com/office/powerpoint/2010/main" val="1360254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a:t>
            </a:r>
            <a:r>
              <a:rPr lang="zh-CN" altLang="en-US" dirty="0"/>
              <a:t>、目的需要适当：归纳总结</a:t>
            </a:r>
            <a:r>
              <a:rPr lang="en-US" altLang="zh-CN" dirty="0"/>
              <a:t>——</a:t>
            </a:r>
            <a:r>
              <a:rPr lang="zh-CN" altLang="en-US" dirty="0"/>
              <a:t>基础战斗规则教学（操作、复活、存档）、熟悉部分敌人机制、展开世界观</a:t>
            </a:r>
            <a:br>
              <a:rPr lang="en-US" altLang="zh-CN" dirty="0"/>
            </a:br>
            <a:r>
              <a:rPr lang="en-US" altLang="zh-CN" dirty="0"/>
              <a:t>2</a:t>
            </a:r>
            <a:r>
              <a:rPr lang="zh-CN" altLang="en-US" dirty="0"/>
              <a:t>、</a:t>
            </a:r>
          </a:p>
        </p:txBody>
      </p:sp>
    </p:spTree>
    <p:extLst>
      <p:ext uri="{BB962C8B-B14F-4D97-AF65-F5344CB8AC3E}">
        <p14:creationId xmlns:p14="http://schemas.microsoft.com/office/powerpoint/2010/main" val="1730347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a:t>
            </a:r>
            <a:r>
              <a:rPr lang="zh-CN" altLang="en-US" dirty="0"/>
              <a:t>、举例说明：怎样的怪物和关卡设计能让玩家熟悉操作</a:t>
            </a:r>
            <a:endParaRPr lang="en-US" altLang="zh-CN" dirty="0"/>
          </a:p>
          <a:p>
            <a:r>
              <a:rPr lang="en-US" altLang="zh-CN" dirty="0"/>
              <a:t>2</a:t>
            </a:r>
            <a:r>
              <a:rPr lang="zh-CN" altLang="en-US" dirty="0"/>
              <a:t>、后续的怪物以怎样的组合出现</a:t>
            </a:r>
          </a:p>
        </p:txBody>
      </p:sp>
    </p:spTree>
    <p:extLst>
      <p:ext uri="{BB962C8B-B14F-4D97-AF65-F5344CB8AC3E}">
        <p14:creationId xmlns:p14="http://schemas.microsoft.com/office/powerpoint/2010/main" val="1201624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a:t>
            </a:r>
            <a:r>
              <a:rPr lang="zh-CN" altLang="en-US" dirty="0"/>
              <a:t>、检查文档布局</a:t>
            </a:r>
            <a:endParaRPr lang="en-US" altLang="zh-CN" dirty="0"/>
          </a:p>
          <a:p>
            <a:r>
              <a:rPr lang="en-US" altLang="zh-CN" dirty="0"/>
              <a:t>2</a:t>
            </a:r>
            <a:r>
              <a:rPr lang="zh-CN" altLang="en-US" dirty="0"/>
              <a:t>、分析难度布局的目的</a:t>
            </a:r>
          </a:p>
        </p:txBody>
      </p:sp>
    </p:spTree>
    <p:extLst>
      <p:ext uri="{BB962C8B-B14F-4D97-AF65-F5344CB8AC3E}">
        <p14:creationId xmlns:p14="http://schemas.microsoft.com/office/powerpoint/2010/main" val="914741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POI</a:t>
            </a:r>
            <a:r>
              <a:rPr lang="zh-CN" altLang="en-US" dirty="0"/>
              <a:t>一般指代的是</a:t>
            </a:r>
          </a:p>
        </p:txBody>
      </p:sp>
    </p:spTree>
    <p:extLst>
      <p:ext uri="{BB962C8B-B14F-4D97-AF65-F5344CB8AC3E}">
        <p14:creationId xmlns:p14="http://schemas.microsoft.com/office/powerpoint/2010/main" val="1225630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
    <p:spTree>
      <p:nvGrpSpPr>
        <p:cNvPr id="1" name=""/>
        <p:cNvGrpSpPr/>
        <p:nvPr/>
      </p:nvGrpSpPr>
      <p:grpSpPr>
        <a:xfrm>
          <a:off x="0" y="0"/>
          <a:ext cx="0" cy="0"/>
          <a:chOff x="0" y="0"/>
          <a:chExt cx="0" cy="0"/>
        </a:xfrm>
      </p:grpSpPr>
      <p:sp>
        <p:nvSpPr>
          <p:cNvPr id="11" name="正文级别 1…"/>
          <p:cNvSpPr txBox="1">
            <a:spLocks noGrp="1"/>
          </p:cNvSpPr>
          <p:nvPr>
            <p:ph type="body" sz="quarter" idx="1" hasCustomPrompt="1"/>
          </p:nvPr>
        </p:nvSpPr>
        <p:spPr>
          <a:xfrm>
            <a:off x="1201340" y="11859862"/>
            <a:ext cx="21971004" cy="636980"/>
          </a:xfrm>
          <a:prstGeom prst="rect">
            <a:avLst/>
          </a:prstGeom>
        </p:spPr>
        <p:txBody>
          <a:bodyPr lIns="45718" tIns="45718" rIns="45718" bIns="45718" numCol="1" spcCol="38100"/>
          <a:lstStyle>
            <a:lvl1pPr marL="0" indent="0" defTabSz="701675">
              <a:lnSpc>
                <a:spcPct val="100000"/>
              </a:lnSpc>
              <a:spcBef>
                <a:spcPts val="0"/>
              </a:spcBef>
              <a:buSzTx/>
              <a:buNone/>
              <a:defRPr sz="3000" b="1"/>
            </a:lvl1pPr>
            <a:lvl2pPr marL="990600" indent="-381000" defTabSz="701675">
              <a:lnSpc>
                <a:spcPct val="100000"/>
              </a:lnSpc>
              <a:spcBef>
                <a:spcPts val="0"/>
              </a:spcBef>
              <a:defRPr sz="3000" b="1"/>
            </a:lvl2pPr>
            <a:lvl3pPr marL="1600200" indent="-381000" defTabSz="701675">
              <a:lnSpc>
                <a:spcPct val="100000"/>
              </a:lnSpc>
              <a:spcBef>
                <a:spcPts val="0"/>
              </a:spcBef>
              <a:defRPr sz="3000" b="1"/>
            </a:lvl3pPr>
            <a:lvl4pPr marL="2209800" indent="-381000" defTabSz="701675">
              <a:lnSpc>
                <a:spcPct val="100000"/>
              </a:lnSpc>
              <a:spcBef>
                <a:spcPts val="0"/>
              </a:spcBef>
              <a:defRPr sz="3000" b="1"/>
            </a:lvl4pPr>
            <a:lvl5pPr marL="2819400" indent="-381000" defTabSz="701675">
              <a:lnSpc>
                <a:spcPct val="100000"/>
              </a:lnSpc>
              <a:spcBef>
                <a:spcPts val="0"/>
              </a:spcBef>
              <a:defRPr sz="3000" b="1"/>
            </a:lvl5pPr>
          </a:lstStyle>
          <a:p>
            <a:r>
              <a:t>作者和日期</a:t>
            </a:r>
          </a:p>
          <a:p>
            <a:pPr lvl="1"/>
            <a:endParaRPr/>
          </a:p>
          <a:p>
            <a:pPr lvl="2"/>
            <a:endParaRPr/>
          </a:p>
          <a:p>
            <a:pPr lvl="3"/>
            <a:endParaRPr/>
          </a:p>
          <a:p>
            <a:pPr lvl="4"/>
            <a:endParaRPr/>
          </a:p>
        </p:txBody>
      </p:sp>
      <p:sp>
        <p:nvSpPr>
          <p:cNvPr id="12" name="演示文稿标题"/>
          <p:cNvSpPr txBox="1">
            <a:spLocks noGrp="1"/>
          </p:cNvSpPr>
          <p:nvPr>
            <p:ph type="title" hasCustomPrompt="1"/>
          </p:nvPr>
        </p:nvSpPr>
        <p:spPr>
          <a:xfrm>
            <a:off x="1206496" y="2574991"/>
            <a:ext cx="21971005" cy="4648202"/>
          </a:xfrm>
          <a:prstGeom prst="rect">
            <a:avLst/>
          </a:prstGeom>
        </p:spPr>
        <p:txBody>
          <a:bodyPr anchor="b"/>
          <a:lstStyle>
            <a:lvl1pPr>
              <a:defRPr sz="11600" spc="-232"/>
            </a:lvl1pPr>
          </a:lstStyle>
          <a:p>
            <a:r>
              <a:t>演示文稿标题</a:t>
            </a:r>
          </a:p>
        </p:txBody>
      </p:sp>
      <p:sp>
        <p:nvSpPr>
          <p:cNvPr id="13" name="正文级别 1…"/>
          <p:cNvSpPr txBox="1">
            <a:spLocks noGrp="1"/>
          </p:cNvSpPr>
          <p:nvPr>
            <p:ph type="body" sz="quarter" idx="21" hasCustomPrompt="1"/>
          </p:nvPr>
        </p:nvSpPr>
        <p:spPr>
          <a:xfrm>
            <a:off x="1201342" y="7223190"/>
            <a:ext cx="21971002" cy="1905002"/>
          </a:xfrm>
          <a:prstGeom prst="rect">
            <a:avLst/>
          </a:prstGeom>
        </p:spPr>
        <p:txBody>
          <a:bodyPr numCol="1" spcCol="38100"/>
          <a:lstStyle>
            <a:lvl1pPr marL="0" indent="0" defTabSz="825500">
              <a:lnSpc>
                <a:spcPct val="100000"/>
              </a:lnSpc>
              <a:spcBef>
                <a:spcPts val="0"/>
              </a:spcBef>
              <a:buSzTx/>
              <a:buNone/>
              <a:defRPr sz="5500" b="1"/>
            </a:lvl1pPr>
          </a:lstStyle>
          <a:p>
            <a:r>
              <a:t>演示文稿副标题</a:t>
            </a:r>
          </a:p>
        </p:txBody>
      </p:sp>
      <p:sp>
        <p:nvSpPr>
          <p:cNvPr id="1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鳄梨和酸橙"/>
          <p:cNvSpPr>
            <a:spLocks noGrp="1"/>
          </p:cNvSpPr>
          <p:nvPr>
            <p:ph type="pic" idx="21"/>
          </p:nvPr>
        </p:nvSpPr>
        <p:spPr>
          <a:xfrm>
            <a:off x="-1155700" y="-1295400"/>
            <a:ext cx="26746200" cy="16018933"/>
          </a:xfrm>
          <a:prstGeom prst="rect">
            <a:avLst/>
          </a:prstGeom>
        </p:spPr>
        <p:txBody>
          <a:bodyPr lIns="91439" tIns="45719" rIns="91439" bIns="45719" numCol="1" spcCol="38100">
            <a:noAutofit/>
          </a:bodyPr>
          <a:lstStyle/>
          <a:p>
            <a:endParaRPr/>
          </a:p>
        </p:txBody>
      </p:sp>
      <p:sp>
        <p:nvSpPr>
          <p:cNvPr id="22" name="演示文稿标题"/>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演示文稿标题</a:t>
            </a:r>
          </a:p>
        </p:txBody>
      </p:sp>
      <p:sp>
        <p:nvSpPr>
          <p:cNvPr id="23" name="正文级别 1…"/>
          <p:cNvSpPr txBox="1">
            <a:spLocks noGrp="1"/>
          </p:cNvSpPr>
          <p:nvPr>
            <p:ph type="body" sz="quarter" idx="1" hasCustomPrompt="1"/>
          </p:nvPr>
        </p:nvSpPr>
        <p:spPr>
          <a:xfrm>
            <a:off x="1207690" y="1106137"/>
            <a:ext cx="21968621" cy="636980"/>
          </a:xfrm>
          <a:prstGeom prst="rect">
            <a:avLst/>
          </a:prstGeom>
        </p:spPr>
        <p:txBody>
          <a:bodyPr lIns="45718" tIns="45718" rIns="45718" bIns="45718" numCol="1" spcCol="38100"/>
          <a:lstStyle>
            <a:lvl1pPr marL="0" indent="0" defTabSz="701675">
              <a:lnSpc>
                <a:spcPct val="100000"/>
              </a:lnSpc>
              <a:spcBef>
                <a:spcPts val="0"/>
              </a:spcBef>
              <a:buSzTx/>
              <a:buNone/>
              <a:defRPr sz="3000" b="1"/>
            </a:lvl1pPr>
            <a:lvl2pPr marL="990600" indent="-381000" defTabSz="701675">
              <a:lnSpc>
                <a:spcPct val="100000"/>
              </a:lnSpc>
              <a:spcBef>
                <a:spcPts val="0"/>
              </a:spcBef>
              <a:defRPr sz="3000" b="1"/>
            </a:lvl2pPr>
            <a:lvl3pPr marL="1600200" indent="-381000" defTabSz="701675">
              <a:lnSpc>
                <a:spcPct val="100000"/>
              </a:lnSpc>
              <a:spcBef>
                <a:spcPts val="0"/>
              </a:spcBef>
              <a:defRPr sz="3000" b="1"/>
            </a:lvl3pPr>
            <a:lvl4pPr marL="2209800" indent="-381000" defTabSz="701675">
              <a:lnSpc>
                <a:spcPct val="100000"/>
              </a:lnSpc>
              <a:spcBef>
                <a:spcPts val="0"/>
              </a:spcBef>
              <a:defRPr sz="3000" b="1"/>
            </a:lvl4pPr>
            <a:lvl5pPr marL="2819400" indent="-381000" defTabSz="701675">
              <a:lnSpc>
                <a:spcPct val="100000"/>
              </a:lnSpc>
              <a:spcBef>
                <a:spcPts val="0"/>
              </a:spcBef>
              <a:defRPr sz="3000" b="1"/>
            </a:lvl5pPr>
          </a:lstStyle>
          <a:p>
            <a:r>
              <a:t>作者和日期</a:t>
            </a:r>
          </a:p>
          <a:p>
            <a:pPr lvl="1"/>
            <a:endParaRPr/>
          </a:p>
          <a:p>
            <a:pPr lvl="2"/>
            <a:endParaRPr/>
          </a:p>
          <a:p>
            <a:pPr lvl="3"/>
            <a:endParaRPr/>
          </a:p>
          <a:p>
            <a:pPr lvl="4"/>
            <a:endParaRPr/>
          </a:p>
        </p:txBody>
      </p:sp>
      <p:sp>
        <p:nvSpPr>
          <p:cNvPr id="24" name="正文级别 1…"/>
          <p:cNvSpPr txBox="1">
            <a:spLocks noGrp="1"/>
          </p:cNvSpPr>
          <p:nvPr>
            <p:ph type="body" sz="quarter" idx="22" hasCustomPrompt="1"/>
          </p:nvPr>
        </p:nvSpPr>
        <p:spPr>
          <a:xfrm>
            <a:off x="1206500" y="11609909"/>
            <a:ext cx="21971000" cy="1116953"/>
          </a:xfrm>
          <a:prstGeom prst="rect">
            <a:avLst/>
          </a:prstGeom>
        </p:spPr>
        <p:txBody>
          <a:bodyPr numCol="1" spcCol="38100"/>
          <a:lstStyle>
            <a:lvl1pPr marL="0" indent="0" defTabSz="825500">
              <a:lnSpc>
                <a:spcPct val="100000"/>
              </a:lnSpc>
              <a:spcBef>
                <a:spcPts val="0"/>
              </a:spcBef>
              <a:buSzTx/>
              <a:buNone/>
              <a:defRPr sz="5500" b="1"/>
            </a:lvl1pPr>
          </a:lstStyle>
          <a:p>
            <a:r>
              <a:t>演示文稿副标题</a:t>
            </a:r>
          </a:p>
        </p:txBody>
      </p:sp>
      <p:sp>
        <p:nvSpPr>
          <p:cNvPr id="2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与照片（备选）">
    <p:spTree>
      <p:nvGrpSpPr>
        <p:cNvPr id="1" name=""/>
        <p:cNvGrpSpPr/>
        <p:nvPr/>
      </p:nvGrpSpPr>
      <p:grpSpPr>
        <a:xfrm>
          <a:off x="0" y="0"/>
          <a:ext cx="0" cy="0"/>
          <a:chOff x="0" y="0"/>
          <a:chExt cx="0" cy="0"/>
        </a:xfrm>
      </p:grpSpPr>
      <p:sp>
        <p:nvSpPr>
          <p:cNvPr id="32" name="一碗三文鱼饼、沙拉和鹰嘴豆泥"/>
          <p:cNvSpPr>
            <a:spLocks noGrp="1"/>
          </p:cNvSpPr>
          <p:nvPr>
            <p:ph type="pic" idx="21"/>
          </p:nvPr>
        </p:nvSpPr>
        <p:spPr>
          <a:xfrm>
            <a:off x="10972800" y="-203200"/>
            <a:ext cx="12144837" cy="14135100"/>
          </a:xfrm>
          <a:prstGeom prst="rect">
            <a:avLst/>
          </a:prstGeom>
        </p:spPr>
        <p:txBody>
          <a:bodyPr lIns="91439" tIns="45719" rIns="91439" bIns="45719" numCol="1" spcCol="38100">
            <a:noAutofit/>
          </a:bodyPr>
          <a:lstStyle/>
          <a:p>
            <a:endParaRPr/>
          </a:p>
        </p:txBody>
      </p:sp>
      <p:sp>
        <p:nvSpPr>
          <p:cNvPr id="33" name="幻灯片标题"/>
          <p:cNvSpPr txBox="1">
            <a:spLocks noGrp="1"/>
          </p:cNvSpPr>
          <p:nvPr>
            <p:ph type="title" hasCustomPrompt="1"/>
          </p:nvPr>
        </p:nvSpPr>
        <p:spPr>
          <a:xfrm>
            <a:off x="1206500" y="1270000"/>
            <a:ext cx="9779000" cy="5882274"/>
          </a:xfrm>
          <a:prstGeom prst="rect">
            <a:avLst/>
          </a:prstGeom>
        </p:spPr>
        <p:txBody>
          <a:bodyPr anchor="b"/>
          <a:lstStyle/>
          <a:p>
            <a:r>
              <a:t>幻灯片标题</a:t>
            </a:r>
          </a:p>
        </p:txBody>
      </p:sp>
      <p:sp>
        <p:nvSpPr>
          <p:cNvPr id="34" name="正文级别 1…"/>
          <p:cNvSpPr txBox="1">
            <a:spLocks noGrp="1"/>
          </p:cNvSpPr>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sz="5500" b="1"/>
            </a:lvl1pPr>
            <a:lvl2pPr marL="0" indent="0" defTabSz="825500">
              <a:lnSpc>
                <a:spcPct val="100000"/>
              </a:lnSpc>
              <a:spcBef>
                <a:spcPts val="0"/>
              </a:spcBef>
              <a:buSzTx/>
              <a:buNone/>
              <a:defRPr sz="5500" b="1"/>
            </a:lvl2pPr>
            <a:lvl3pPr marL="0" indent="0" defTabSz="825500">
              <a:lnSpc>
                <a:spcPct val="100000"/>
              </a:lnSpc>
              <a:spcBef>
                <a:spcPts val="0"/>
              </a:spcBef>
              <a:buSzTx/>
              <a:buNone/>
              <a:defRPr sz="5500" b="1"/>
            </a:lvl3pPr>
            <a:lvl4pPr marL="0" indent="0" defTabSz="825500">
              <a:lnSpc>
                <a:spcPct val="100000"/>
              </a:lnSpc>
              <a:spcBef>
                <a:spcPts val="0"/>
              </a:spcBef>
              <a:buSzTx/>
              <a:buNone/>
              <a:defRPr sz="5500" b="1"/>
            </a:lvl4pPr>
            <a:lvl5pPr marL="0" indent="0" defTabSz="825500">
              <a:lnSpc>
                <a:spcPct val="100000"/>
              </a:lnSpc>
              <a:spcBef>
                <a:spcPts val="0"/>
              </a:spcBef>
              <a:buSzTx/>
              <a:buNone/>
              <a:defRPr sz="5500" b="1"/>
            </a:lvl5pPr>
          </a:lstStyle>
          <a:p>
            <a:r>
              <a:t>幻灯片副标题</a:t>
            </a:r>
          </a:p>
          <a:p>
            <a:pPr lvl="1"/>
            <a:endParaRPr/>
          </a:p>
          <a:p>
            <a:pPr lvl="2"/>
            <a:endParaRPr/>
          </a:p>
          <a:p>
            <a:pPr lvl="3"/>
            <a:endParaRPr/>
          </a:p>
          <a:p>
            <a:pPr lvl="4"/>
            <a:endParaRPr/>
          </a:p>
        </p:txBody>
      </p:sp>
      <p:sp>
        <p:nvSpPr>
          <p:cNvPr id="35" name="幻灯片编号"/>
          <p:cNvSpPr txBox="1">
            <a:spLocks noGrp="1"/>
          </p:cNvSpPr>
          <p:nvPr>
            <p:ph type="sldNum" sz="quarter" idx="2"/>
          </p:nvPr>
        </p:nvSpPr>
        <p:spPr>
          <a:xfrm>
            <a:off x="12001500" y="13085233"/>
            <a:ext cx="368504"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xfrm>
            <a:off x="1206500" y="1079500"/>
            <a:ext cx="21971000" cy="1433164"/>
          </a:xfrm>
          <a:prstGeom prst="rect">
            <a:avLst/>
          </a:prstGeom>
        </p:spPr>
        <p:txBody>
          <a:bodyPr/>
          <a:lstStyle/>
          <a:p>
            <a:r>
              <a:t>幻灯片标题</a:t>
            </a:r>
          </a:p>
        </p:txBody>
      </p:sp>
      <p:sp>
        <p:nvSpPr>
          <p:cNvPr id="43" name="正文级别 1…"/>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幻灯片副标题</a:t>
            </a:r>
          </a:p>
          <a:p>
            <a:pPr lvl="1"/>
            <a:endParaRPr/>
          </a:p>
          <a:p>
            <a:pPr lvl="2"/>
            <a:endParaRPr/>
          </a:p>
          <a:p>
            <a:pPr lvl="3"/>
            <a:endParaRPr/>
          </a:p>
          <a:p>
            <a:pPr lvl="4"/>
            <a:endParaRPr/>
          </a:p>
        </p:txBody>
      </p:sp>
      <p:sp>
        <p:nvSpPr>
          <p:cNvPr id="44" name="正文级别 1…"/>
          <p:cNvSpPr txBox="1">
            <a:spLocks noGrp="1"/>
          </p:cNvSpPr>
          <p:nvPr>
            <p:ph type="body" idx="21" hasCustomPrompt="1"/>
          </p:nvPr>
        </p:nvSpPr>
        <p:spPr>
          <a:xfrm>
            <a:off x="1206500" y="4248503"/>
            <a:ext cx="21971000" cy="8256014"/>
          </a:xfrm>
          <a:prstGeom prst="rect">
            <a:avLst/>
          </a:prstGeom>
        </p:spPr>
        <p:txBody>
          <a:bodyPr numCol="1" spcCol="38100"/>
          <a:lstStyle/>
          <a:p>
            <a:r>
              <a:t>幻灯片项目符号文本</a:t>
            </a: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52"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5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0" name="正文级别 1…"/>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幻灯片副标题</a:t>
            </a:r>
          </a:p>
          <a:p>
            <a:pPr lvl="1"/>
            <a:endParaRPr/>
          </a:p>
          <a:p>
            <a:pPr lvl="2"/>
            <a:endParaRPr/>
          </a:p>
          <a:p>
            <a:pPr lvl="3"/>
            <a:endParaRPr/>
          </a:p>
          <a:p>
            <a:pPr lvl="4"/>
            <a:endParaRPr/>
          </a:p>
        </p:txBody>
      </p:sp>
      <p:sp>
        <p:nvSpPr>
          <p:cNvPr id="61" name="正文级别 1…"/>
          <p:cNvSpPr txBox="1">
            <a:spLocks noGrp="1"/>
          </p:cNvSpPr>
          <p:nvPr>
            <p:ph type="body" sz="half" idx="21" hasCustomPrompt="1"/>
          </p:nvPr>
        </p:nvSpPr>
        <p:spPr>
          <a:xfrm>
            <a:off x="1206500" y="4248503"/>
            <a:ext cx="9779000" cy="8256631"/>
          </a:xfrm>
          <a:prstGeom prst="rect">
            <a:avLst/>
          </a:prstGeom>
        </p:spPr>
        <p:txBody>
          <a:bodyPr numCol="1" spcCol="38100"/>
          <a:lstStyle/>
          <a:p>
            <a:r>
              <a:t>幻灯片项目符号文本</a:t>
            </a:r>
          </a:p>
        </p:txBody>
      </p:sp>
      <p:sp>
        <p:nvSpPr>
          <p:cNvPr id="62" name="一碗宽意大利面配有欧芹黄油、烤榛子和帕尔马干酪"/>
          <p:cNvSpPr>
            <a:spLocks noGrp="1"/>
          </p:cNvSpPr>
          <p:nvPr>
            <p:ph type="pic" idx="22"/>
          </p:nvPr>
        </p:nvSpPr>
        <p:spPr>
          <a:xfrm>
            <a:off x="12192000" y="-407266"/>
            <a:ext cx="10916874" cy="14555833"/>
          </a:xfrm>
          <a:prstGeom prst="rect">
            <a:avLst/>
          </a:prstGeom>
        </p:spPr>
        <p:txBody>
          <a:bodyPr lIns="91439" tIns="45719" rIns="91439" bIns="45719" numCol="1" spcCol="38100">
            <a:noAutofit/>
          </a:bodyPr>
          <a:lstStyle/>
          <a:p>
            <a:endParaRPr/>
          </a:p>
        </p:txBody>
      </p:sp>
      <p:sp>
        <p:nvSpPr>
          <p:cNvPr id="63" name="幻灯片标题"/>
          <p:cNvSpPr txBox="1">
            <a:spLocks noGrp="1"/>
          </p:cNvSpPr>
          <p:nvPr>
            <p:ph type="title" hasCustomPrompt="1"/>
          </p:nvPr>
        </p:nvSpPr>
        <p:spPr>
          <a:xfrm>
            <a:off x="1206500" y="1079500"/>
            <a:ext cx="9779000" cy="1435100"/>
          </a:xfrm>
          <a:prstGeom prst="rect">
            <a:avLst/>
          </a:prstGeom>
        </p:spPr>
        <p:txBody>
          <a:bodyPr/>
          <a:lstStyle/>
          <a:p>
            <a:r>
              <a:t>幻灯片标题</a:t>
            </a:r>
          </a:p>
        </p:txBody>
      </p:sp>
      <p:sp>
        <p:nvSpPr>
          <p:cNvPr id="6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实时视频（小）">
    <p:spTree>
      <p:nvGrpSpPr>
        <p:cNvPr id="1" name=""/>
        <p:cNvGrpSpPr/>
        <p:nvPr/>
      </p:nvGrpSpPr>
      <p:grpSpPr>
        <a:xfrm>
          <a:off x="0" y="0"/>
          <a:ext cx="0" cy="0"/>
          <a:chOff x="0" y="0"/>
          <a:chExt cx="0" cy="0"/>
        </a:xfrm>
      </p:grpSpPr>
      <p:sp>
        <p:nvSpPr>
          <p:cNvPr id="71" name="正文级别 1…"/>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幻灯片副标题</a:t>
            </a:r>
          </a:p>
          <a:p>
            <a:pPr lvl="1"/>
            <a:endParaRPr/>
          </a:p>
          <a:p>
            <a:pPr lvl="2"/>
            <a:endParaRPr/>
          </a:p>
          <a:p>
            <a:pPr lvl="3"/>
            <a:endParaRPr/>
          </a:p>
          <a:p>
            <a:pPr lvl="4"/>
            <a:endParaRPr/>
          </a:p>
        </p:txBody>
      </p:sp>
      <p:sp>
        <p:nvSpPr>
          <p:cNvPr id="72" name="正文级别 1…"/>
          <p:cNvSpPr txBox="1">
            <a:spLocks noGrp="1"/>
          </p:cNvSpPr>
          <p:nvPr>
            <p:ph type="body" sz="half" idx="21" hasCustomPrompt="1"/>
          </p:nvPr>
        </p:nvSpPr>
        <p:spPr>
          <a:xfrm>
            <a:off x="1206500" y="4248503"/>
            <a:ext cx="9779000" cy="8256631"/>
          </a:xfrm>
          <a:prstGeom prst="rect">
            <a:avLst/>
          </a:prstGeom>
        </p:spPr>
        <p:txBody>
          <a:bodyPr numCol="1" spcCol="38100"/>
          <a:lstStyle/>
          <a:p>
            <a:r>
              <a:t>幻灯片项目符号文本</a:t>
            </a:r>
          </a:p>
        </p:txBody>
      </p:sp>
      <p:sp>
        <p:nvSpPr>
          <p:cNvPr id="73" name="幻灯片标题"/>
          <p:cNvSpPr txBox="1">
            <a:spLocks noGrp="1"/>
          </p:cNvSpPr>
          <p:nvPr>
            <p:ph type="title" hasCustomPrompt="1"/>
          </p:nvPr>
        </p:nvSpPr>
        <p:spPr>
          <a:xfrm>
            <a:off x="1206500" y="1079500"/>
            <a:ext cx="9779000" cy="1435100"/>
          </a:xfrm>
          <a:prstGeom prst="rect">
            <a:avLst/>
          </a:prstGeom>
        </p:spPr>
        <p:txBody>
          <a:bodyPr/>
          <a:lstStyle/>
          <a:p>
            <a:r>
              <a:t>幻灯片标题</a:t>
            </a:r>
          </a:p>
        </p:txBody>
      </p:sp>
      <p:sp>
        <p:nvSpPr>
          <p:cNvPr id="7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标题、项目符号与实时视频（大）">
    <p:spTree>
      <p:nvGrpSpPr>
        <p:cNvPr id="1" name=""/>
        <p:cNvGrpSpPr/>
        <p:nvPr/>
      </p:nvGrpSpPr>
      <p:grpSpPr>
        <a:xfrm>
          <a:off x="0" y="0"/>
          <a:ext cx="0" cy="0"/>
          <a:chOff x="0" y="0"/>
          <a:chExt cx="0" cy="0"/>
        </a:xfrm>
      </p:grpSpPr>
      <p:sp>
        <p:nvSpPr>
          <p:cNvPr id="81" name="正文级别 1…"/>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幻灯片副标题</a:t>
            </a:r>
          </a:p>
          <a:p>
            <a:pPr lvl="1"/>
            <a:endParaRPr/>
          </a:p>
          <a:p>
            <a:pPr lvl="2"/>
            <a:endParaRPr/>
          </a:p>
          <a:p>
            <a:pPr lvl="3"/>
            <a:endParaRPr/>
          </a:p>
          <a:p>
            <a:pPr lvl="4"/>
            <a:endParaRPr/>
          </a:p>
        </p:txBody>
      </p:sp>
      <p:sp>
        <p:nvSpPr>
          <p:cNvPr id="82" name="正文级别 1…"/>
          <p:cNvSpPr txBox="1">
            <a:spLocks noGrp="1"/>
          </p:cNvSpPr>
          <p:nvPr>
            <p:ph type="body" sz="half" idx="21" hasCustomPrompt="1"/>
          </p:nvPr>
        </p:nvSpPr>
        <p:spPr>
          <a:xfrm>
            <a:off x="1206500" y="4248503"/>
            <a:ext cx="9779000" cy="8256631"/>
          </a:xfrm>
          <a:prstGeom prst="rect">
            <a:avLst/>
          </a:prstGeom>
        </p:spPr>
        <p:txBody>
          <a:bodyPr numCol="1" spcCol="38100"/>
          <a:lstStyle/>
          <a:p>
            <a:r>
              <a:t>幻灯片项目符号文本</a:t>
            </a:r>
          </a:p>
        </p:txBody>
      </p:sp>
      <p:sp>
        <p:nvSpPr>
          <p:cNvPr id="83" name="幻灯片标题"/>
          <p:cNvSpPr txBox="1">
            <a:spLocks noGrp="1"/>
          </p:cNvSpPr>
          <p:nvPr>
            <p:ph type="title" hasCustomPrompt="1"/>
          </p:nvPr>
        </p:nvSpPr>
        <p:spPr>
          <a:xfrm>
            <a:off x="1206500" y="1079500"/>
            <a:ext cx="9779000" cy="1435100"/>
          </a:xfrm>
          <a:prstGeom prst="rect">
            <a:avLst/>
          </a:prstGeom>
        </p:spPr>
        <p:txBody>
          <a:bodyPr/>
          <a:lstStyle/>
          <a:p>
            <a:r>
              <a:t>幻灯片标题</a:t>
            </a:r>
          </a:p>
        </p:txBody>
      </p:sp>
      <p:sp>
        <p:nvSpPr>
          <p:cNvPr id="8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节">
    <p:spTree>
      <p:nvGrpSpPr>
        <p:cNvPr id="1" name=""/>
        <p:cNvGrpSpPr/>
        <p:nvPr/>
      </p:nvGrpSpPr>
      <p:grpSpPr>
        <a:xfrm>
          <a:off x="0" y="0"/>
          <a:ext cx="0" cy="0"/>
          <a:chOff x="0" y="0"/>
          <a:chExt cx="0" cy="0"/>
        </a:xfrm>
      </p:grpSpPr>
      <p:sp>
        <p:nvSpPr>
          <p:cNvPr id="91" name="节标题"/>
          <p:cNvSpPr txBox="1">
            <a:spLocks noGrp="1"/>
          </p:cNvSpPr>
          <p:nvPr>
            <p:ph type="title" hasCustomPrompt="1"/>
          </p:nvPr>
        </p:nvSpPr>
        <p:spPr>
          <a:xfrm>
            <a:off x="1206496" y="4533900"/>
            <a:ext cx="21971005"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节标题</a:t>
            </a:r>
          </a:p>
        </p:txBody>
      </p:sp>
      <p:sp>
        <p:nvSpPr>
          <p:cNvPr id="92" name="幻灯片编号"/>
          <p:cNvSpPr txBox="1">
            <a:spLocks noGrp="1"/>
          </p:cNvSpPr>
          <p:nvPr>
            <p:ph type="sldNum" sz="quarter" idx="2"/>
          </p:nvPr>
        </p:nvSpPr>
        <p:spPr>
          <a:xfrm>
            <a:off x="12001500" y="13085233"/>
            <a:ext cx="368504"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99" name="幻灯片标题"/>
          <p:cNvSpPr txBox="1">
            <a:spLocks noGrp="1"/>
          </p:cNvSpPr>
          <p:nvPr>
            <p:ph type="title" hasCustomPrompt="1"/>
          </p:nvPr>
        </p:nvSpPr>
        <p:spPr>
          <a:xfrm>
            <a:off x="1206500" y="1079500"/>
            <a:ext cx="21971000" cy="1434950"/>
          </a:xfrm>
          <a:prstGeom prst="rect">
            <a:avLst/>
          </a:prstGeom>
        </p:spPr>
        <p:txBody>
          <a:bodyPr/>
          <a:lstStyle/>
          <a:p>
            <a:r>
              <a:t>幻灯片标题</a:t>
            </a:r>
          </a:p>
        </p:txBody>
      </p:sp>
      <p:sp>
        <p:nvSpPr>
          <p:cNvPr id="100" name="正文级别 1…"/>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幻灯片副标题</a:t>
            </a:r>
          </a:p>
          <a:p>
            <a:pPr lvl="1"/>
            <a:endParaRPr/>
          </a:p>
          <a:p>
            <a:pPr lvl="2"/>
            <a:endParaRPr/>
          </a:p>
          <a:p>
            <a:pPr lvl="3"/>
            <a:endParaRPr/>
          </a:p>
          <a:p>
            <a:pPr lvl="4"/>
            <a:endParaRPr/>
          </a:p>
        </p:txBody>
      </p:sp>
      <p:sp>
        <p:nvSpPr>
          <p:cNvPr id="10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议程">
    <p:spTree>
      <p:nvGrpSpPr>
        <p:cNvPr id="1" name=""/>
        <p:cNvGrpSpPr/>
        <p:nvPr/>
      </p:nvGrpSpPr>
      <p:grpSpPr>
        <a:xfrm>
          <a:off x="0" y="0"/>
          <a:ext cx="0" cy="0"/>
          <a:chOff x="0" y="0"/>
          <a:chExt cx="0" cy="0"/>
        </a:xfrm>
      </p:grpSpPr>
      <p:sp>
        <p:nvSpPr>
          <p:cNvPr id="108" name="议程标题"/>
          <p:cNvSpPr txBox="1">
            <a:spLocks noGrp="1"/>
          </p:cNvSpPr>
          <p:nvPr>
            <p:ph type="title" hasCustomPrompt="1"/>
          </p:nvPr>
        </p:nvSpPr>
        <p:spPr>
          <a:xfrm>
            <a:off x="1206500" y="1079500"/>
            <a:ext cx="21971000" cy="1435100"/>
          </a:xfrm>
          <a:prstGeom prst="rect">
            <a:avLst/>
          </a:prstGeom>
        </p:spPr>
        <p:txBody>
          <a:bodyPr/>
          <a:lstStyle/>
          <a:p>
            <a:r>
              <a:t>议程标题</a:t>
            </a:r>
          </a:p>
        </p:txBody>
      </p:sp>
      <p:sp>
        <p:nvSpPr>
          <p:cNvPr id="109" name="正文级别 1…"/>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726440">
              <a:lnSpc>
                <a:spcPct val="100000"/>
              </a:lnSpc>
              <a:spcBef>
                <a:spcPts val="0"/>
              </a:spcBef>
              <a:buSzTx/>
              <a:buNone/>
              <a:defRPr b="1"/>
            </a:lvl1pPr>
            <a:lvl2pPr defTabSz="726440">
              <a:lnSpc>
                <a:spcPct val="100000"/>
              </a:lnSpc>
              <a:spcBef>
                <a:spcPts val="0"/>
              </a:spcBef>
              <a:defRPr b="1"/>
            </a:lvl2pPr>
            <a:lvl3pPr defTabSz="726440">
              <a:lnSpc>
                <a:spcPct val="100000"/>
              </a:lnSpc>
              <a:spcBef>
                <a:spcPts val="0"/>
              </a:spcBef>
              <a:defRPr b="1"/>
            </a:lvl3pPr>
            <a:lvl4pPr defTabSz="726440">
              <a:lnSpc>
                <a:spcPct val="100000"/>
              </a:lnSpc>
              <a:spcBef>
                <a:spcPts val="0"/>
              </a:spcBef>
              <a:defRPr b="1"/>
            </a:lvl4pPr>
            <a:lvl5pPr defTabSz="726440">
              <a:lnSpc>
                <a:spcPct val="100000"/>
              </a:lnSpc>
              <a:spcBef>
                <a:spcPts val="0"/>
              </a:spcBef>
              <a:defRPr b="1"/>
            </a:lvl5pPr>
          </a:lstStyle>
          <a:p>
            <a:r>
              <a:t>议程副标题</a:t>
            </a:r>
          </a:p>
          <a:p>
            <a:pPr lvl="1"/>
            <a:endParaRPr/>
          </a:p>
          <a:p>
            <a:pPr lvl="2"/>
            <a:endParaRPr/>
          </a:p>
          <a:p>
            <a:pPr lvl="3"/>
            <a:endParaRPr/>
          </a:p>
          <a:p>
            <a:pPr lvl="4"/>
            <a:endParaRPr/>
          </a:p>
        </p:txBody>
      </p:sp>
      <p:sp>
        <p:nvSpPr>
          <p:cNvPr id="110" name="正文级别 1…"/>
          <p:cNvSpPr txBox="1">
            <a:spLocks noGrp="1"/>
          </p:cNvSpPr>
          <p:nvPr>
            <p:ph type="body" idx="21" hasCustomPrompt="1"/>
          </p:nvPr>
        </p:nvSpPr>
        <p:spPr>
          <a:xfrm>
            <a:off x="1206500" y="4248503"/>
            <a:ext cx="21971000" cy="8256014"/>
          </a:xfrm>
          <a:prstGeom prst="rect">
            <a:avLst/>
          </a:prstGeom>
        </p:spPr>
        <p:txBody>
          <a:bodyPr numCol="1" spcCol="38100"/>
          <a:lstStyle>
            <a:lvl1pPr marL="0" indent="0" defTabSz="825500">
              <a:lnSpc>
                <a:spcPct val="100000"/>
              </a:lnSpc>
              <a:spcBef>
                <a:spcPts val="1800"/>
              </a:spcBef>
              <a:buSzTx/>
              <a:buNone/>
              <a:defRPr sz="5500" spc="-99"/>
            </a:lvl1pPr>
          </a:lstStyle>
          <a:p>
            <a:r>
              <a:t>议程主题</a:t>
            </a:r>
          </a:p>
        </p:txBody>
      </p:sp>
      <p:sp>
        <p:nvSpPr>
          <p:cNvPr id="11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说明">
    <p:spTree>
      <p:nvGrpSpPr>
        <p:cNvPr id="1" name=""/>
        <p:cNvGrpSpPr/>
        <p:nvPr/>
      </p:nvGrpSpPr>
      <p:grpSpPr>
        <a:xfrm>
          <a:off x="0" y="0"/>
          <a:ext cx="0" cy="0"/>
          <a:chOff x="0" y="0"/>
          <a:chExt cx="0" cy="0"/>
        </a:xfrm>
      </p:grpSpPr>
      <p:sp>
        <p:nvSpPr>
          <p:cNvPr id="118" name="正文级别 1…"/>
          <p:cNvSpPr txBox="1">
            <a:spLocks noGrp="1"/>
          </p:cNvSpPr>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说明</a:t>
            </a:r>
          </a:p>
          <a:p>
            <a:pPr lvl="1"/>
            <a:endParaRPr/>
          </a:p>
          <a:p>
            <a:pPr lvl="2"/>
            <a:endParaRPr/>
          </a:p>
          <a:p>
            <a:pPr lvl="3"/>
            <a:endParaRPr/>
          </a:p>
          <a:p>
            <a:pPr lvl="4"/>
            <a:endParaRPr/>
          </a:p>
        </p:txBody>
      </p:sp>
      <p:sp>
        <p:nvSpPr>
          <p:cNvPr id="11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显著事实">
    <p:spTree>
      <p:nvGrpSpPr>
        <p:cNvPr id="1" name=""/>
        <p:cNvGrpSpPr/>
        <p:nvPr/>
      </p:nvGrpSpPr>
      <p:grpSpPr>
        <a:xfrm>
          <a:off x="0" y="0"/>
          <a:ext cx="0" cy="0"/>
          <a:chOff x="0" y="0"/>
          <a:chExt cx="0" cy="0"/>
        </a:xfrm>
      </p:grpSpPr>
      <p:sp>
        <p:nvSpPr>
          <p:cNvPr id="126" name="正文级别 1…"/>
          <p:cNvSpPr txBox="1">
            <a:spLocks noGrp="1"/>
          </p:cNvSpPr>
          <p:nvPr>
            <p:ph type="body" idx="1" hasCustomPrompt="1"/>
          </p:nvPr>
        </p:nvSpPr>
        <p:spPr>
          <a:xfrm>
            <a:off x="1206500" y="1075926"/>
            <a:ext cx="21971000" cy="7241586"/>
          </a:xfrm>
          <a:prstGeom prst="rect">
            <a:avLst/>
          </a:prstGeom>
        </p:spPr>
        <p:txBody>
          <a:bodyPr numCol="1" spcCol="38100" anchor="b"/>
          <a:lstStyle>
            <a:lvl1pPr marL="0" indent="0" algn="ctr">
              <a:lnSpc>
                <a:spcPct val="80000"/>
              </a:lnSpc>
              <a:spcBef>
                <a:spcPts val="0"/>
              </a:spcBef>
              <a:buSzTx/>
              <a:buNone/>
              <a:defRPr sz="25000" b="1" spc="-250"/>
            </a:lvl1pPr>
            <a:lvl2pPr marL="0" indent="0" algn="ctr">
              <a:lnSpc>
                <a:spcPct val="80000"/>
              </a:lnSpc>
              <a:spcBef>
                <a:spcPts val="0"/>
              </a:spcBef>
              <a:buSzTx/>
              <a:buNone/>
              <a:defRPr sz="25000" b="1" spc="-250"/>
            </a:lvl2pPr>
            <a:lvl3pPr marL="0" indent="0" algn="ctr">
              <a:lnSpc>
                <a:spcPct val="80000"/>
              </a:lnSpc>
              <a:spcBef>
                <a:spcPts val="0"/>
              </a:spcBef>
              <a:buSzTx/>
              <a:buNone/>
              <a:defRPr sz="25000" b="1" spc="-250"/>
            </a:lvl3pPr>
            <a:lvl4pPr marL="0" indent="0" algn="ctr">
              <a:lnSpc>
                <a:spcPct val="80000"/>
              </a:lnSpc>
              <a:spcBef>
                <a:spcPts val="0"/>
              </a:spcBef>
              <a:buSzTx/>
              <a:buNone/>
              <a:defRPr sz="25000" b="1" spc="-250"/>
            </a:lvl4pPr>
            <a:lvl5pPr marL="0" indent="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事实信息"/>
          <p:cNvSpPr txBox="1">
            <a:spLocks noGrp="1"/>
          </p:cNvSpPr>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726440">
              <a:lnSpc>
                <a:spcPct val="100000"/>
              </a:lnSpc>
              <a:spcBef>
                <a:spcPts val="0"/>
              </a:spcBef>
              <a:buSzTx/>
              <a:buNone/>
              <a:defRPr b="1"/>
            </a:lvl1pPr>
          </a:lstStyle>
          <a:p>
            <a:r>
              <a:t>事实信息</a:t>
            </a:r>
          </a:p>
        </p:txBody>
      </p:sp>
      <p:sp>
        <p:nvSpPr>
          <p:cNvPr id="12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135" name="正文级别 1…"/>
          <p:cNvSpPr txBox="1">
            <a:spLocks noGrp="1"/>
          </p:cNvSpPr>
          <p:nvPr>
            <p:ph type="body" sz="quarter" idx="1" hasCustomPrompt="1"/>
          </p:nvPr>
        </p:nvSpPr>
        <p:spPr>
          <a:xfrm>
            <a:off x="2430024" y="10675453"/>
            <a:ext cx="20200054" cy="636980"/>
          </a:xfrm>
          <a:prstGeom prst="rect">
            <a:avLst/>
          </a:prstGeom>
        </p:spPr>
        <p:txBody>
          <a:bodyPr lIns="45718" tIns="45718" rIns="45718" bIns="45718" numCol="1" spcCol="38100"/>
          <a:lstStyle>
            <a:lvl1pPr marL="0" indent="0" defTabSz="701675">
              <a:lnSpc>
                <a:spcPct val="100000"/>
              </a:lnSpc>
              <a:spcBef>
                <a:spcPts val="0"/>
              </a:spcBef>
              <a:buSzTx/>
              <a:buNone/>
              <a:defRPr sz="3000" b="1"/>
            </a:lvl1pPr>
            <a:lvl2pPr marL="990600" indent="-381000" defTabSz="701675">
              <a:lnSpc>
                <a:spcPct val="100000"/>
              </a:lnSpc>
              <a:spcBef>
                <a:spcPts val="0"/>
              </a:spcBef>
              <a:defRPr sz="3000" b="1"/>
            </a:lvl2pPr>
            <a:lvl3pPr marL="1600200" indent="-381000" defTabSz="701675">
              <a:lnSpc>
                <a:spcPct val="100000"/>
              </a:lnSpc>
              <a:spcBef>
                <a:spcPts val="0"/>
              </a:spcBef>
              <a:defRPr sz="3000" b="1"/>
            </a:lvl3pPr>
            <a:lvl4pPr marL="2209800" indent="-381000" defTabSz="701675">
              <a:lnSpc>
                <a:spcPct val="100000"/>
              </a:lnSpc>
              <a:spcBef>
                <a:spcPts val="0"/>
              </a:spcBef>
              <a:defRPr sz="3000" b="1"/>
            </a:lvl4pPr>
            <a:lvl5pPr marL="2819400" indent="-381000" defTabSz="701675">
              <a:lnSpc>
                <a:spcPct val="100000"/>
              </a:lnSpc>
              <a:spcBef>
                <a:spcPts val="0"/>
              </a:spcBef>
              <a:defRPr sz="3000" b="1"/>
            </a:lvl5pPr>
          </a:lstStyle>
          <a:p>
            <a:r>
              <a:t>出处</a:t>
            </a:r>
          </a:p>
          <a:p>
            <a:pPr lvl="1"/>
            <a:endParaRPr/>
          </a:p>
          <a:p>
            <a:pPr lvl="2"/>
            <a:endParaRPr/>
          </a:p>
          <a:p>
            <a:pPr lvl="3"/>
            <a:endParaRPr/>
          </a:p>
          <a:p>
            <a:pPr lvl="4"/>
            <a:endParaRPr/>
          </a:p>
        </p:txBody>
      </p:sp>
      <p:sp>
        <p:nvSpPr>
          <p:cNvPr id="136" name="正文级别 1…"/>
          <p:cNvSpPr txBox="1">
            <a:spLocks noGrp="1"/>
          </p:cNvSpPr>
          <p:nvPr>
            <p:ph type="body" sz="half" idx="21" hasCustomPrompt="1"/>
          </p:nvPr>
        </p:nvSpPr>
        <p:spPr>
          <a:xfrm>
            <a:off x="1753923" y="4939860"/>
            <a:ext cx="20876154" cy="3836281"/>
          </a:xfrm>
          <a:prstGeom prst="rect">
            <a:avLst/>
          </a:prstGeom>
        </p:spPr>
        <p:txBody>
          <a:bodyPr numCol="1" spcCol="38100"/>
          <a:lstStyle>
            <a:lvl1pPr marL="469900" indent="-300876">
              <a:spcBef>
                <a:spcPts val="0"/>
              </a:spcBef>
              <a:buSzTx/>
              <a:buNone/>
              <a:defRPr sz="8500" spc="-200">
                <a:latin typeface="Helvetica Neue Medium"/>
                <a:ea typeface="Helvetica Neue Medium"/>
                <a:cs typeface="Helvetica Neue Medium"/>
                <a:sym typeface="Helvetica Neue Medium"/>
              </a:defRPr>
            </a:lvl1pPr>
          </a:lstStyle>
          <a:p>
            <a:r>
              <a:t>“著名引文”</a:t>
            </a:r>
          </a:p>
        </p:txBody>
      </p:sp>
      <p:sp>
        <p:nvSpPr>
          <p:cNvPr id="13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144" name="一碗沙拉配有炒饭、水煮蛋和一双筷子"/>
          <p:cNvSpPr>
            <a:spLocks noGrp="1"/>
          </p:cNvSpPr>
          <p:nvPr>
            <p:ph type="pic" sz="quarter" idx="21"/>
          </p:nvPr>
        </p:nvSpPr>
        <p:spPr>
          <a:xfrm>
            <a:off x="15760700" y="1016000"/>
            <a:ext cx="7439099" cy="5949678"/>
          </a:xfrm>
          <a:prstGeom prst="rect">
            <a:avLst/>
          </a:prstGeom>
        </p:spPr>
        <p:txBody>
          <a:bodyPr lIns="91439" tIns="45719" rIns="91439" bIns="45719" numCol="1" spcCol="38100">
            <a:noAutofit/>
          </a:bodyPr>
          <a:lstStyle/>
          <a:p>
            <a:endParaRPr/>
          </a:p>
        </p:txBody>
      </p:sp>
      <p:sp>
        <p:nvSpPr>
          <p:cNvPr id="145" name="一碗三文鱼饼、沙拉和鹰嘴豆泥"/>
          <p:cNvSpPr>
            <a:spLocks noGrp="1"/>
          </p:cNvSpPr>
          <p:nvPr>
            <p:ph type="pic" sz="half" idx="22"/>
          </p:nvPr>
        </p:nvSpPr>
        <p:spPr>
          <a:xfrm>
            <a:off x="13500100" y="3978275"/>
            <a:ext cx="10439400" cy="12150181"/>
          </a:xfrm>
          <a:prstGeom prst="rect">
            <a:avLst/>
          </a:prstGeom>
        </p:spPr>
        <p:txBody>
          <a:bodyPr lIns="91439" tIns="45719" rIns="91439" bIns="45719" numCol="1" spcCol="38100">
            <a:noAutofit/>
          </a:bodyPr>
          <a:lstStyle/>
          <a:p>
            <a:endParaRPr/>
          </a:p>
        </p:txBody>
      </p:sp>
      <p:sp>
        <p:nvSpPr>
          <p:cNvPr id="146" name="一碗宽意大利面配有欧芹黄油、烤榛子和帕尔马干酪"/>
          <p:cNvSpPr>
            <a:spLocks noGrp="1"/>
          </p:cNvSpPr>
          <p:nvPr>
            <p:ph type="pic" idx="23"/>
          </p:nvPr>
        </p:nvSpPr>
        <p:spPr>
          <a:xfrm>
            <a:off x="-139700" y="495300"/>
            <a:ext cx="16611600" cy="12458700"/>
          </a:xfrm>
          <a:prstGeom prst="rect">
            <a:avLst/>
          </a:prstGeom>
        </p:spPr>
        <p:txBody>
          <a:bodyPr lIns="91439" tIns="45719" rIns="91439" bIns="45719" numCol="1" spcCol="38100">
            <a:noAutofit/>
          </a:bodyPr>
          <a:lstStyle/>
          <a:p>
            <a:endParaRPr/>
          </a:p>
        </p:txBody>
      </p:sp>
      <p:sp>
        <p:nvSpPr>
          <p:cNvPr id="14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54" name="一碗沙拉配有炒饭、水煮蛋和一双筷子"/>
          <p:cNvSpPr>
            <a:spLocks noGrp="1"/>
          </p:cNvSpPr>
          <p:nvPr>
            <p:ph type="pic" idx="21"/>
          </p:nvPr>
        </p:nvSpPr>
        <p:spPr>
          <a:xfrm>
            <a:off x="-1333500" y="-5524500"/>
            <a:ext cx="27051000" cy="21640800"/>
          </a:xfrm>
          <a:prstGeom prst="rect">
            <a:avLst/>
          </a:prstGeom>
        </p:spPr>
        <p:txBody>
          <a:bodyPr lIns="91439" tIns="45719" rIns="91439" bIns="45719" numCol="1" spcCol="38100">
            <a:noAutofit/>
          </a:bodyPr>
          <a:lstStyle/>
          <a:p>
            <a:endParaRPr/>
          </a:p>
        </p:txBody>
      </p:sp>
      <p:sp>
        <p:nvSpPr>
          <p:cNvPr id="15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62"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正文级别 1…"/>
          <p:cNvSpPr txBox="1">
            <a:spLocks noGrp="1"/>
          </p:cNvSpPr>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numCol="2" spcCol="1098550">
            <a:normAutofit/>
          </a:bodyPr>
          <a:lstStyle/>
          <a:p>
            <a:r>
              <a:t>幻灯片项目符号文本</a:t>
            </a:r>
          </a:p>
          <a:p>
            <a:pPr lvl="1"/>
            <a:endParaRPr/>
          </a:p>
          <a:p>
            <a:pPr lvl="2"/>
            <a:endParaRPr/>
          </a:p>
          <a:p>
            <a:pPr lvl="3"/>
            <a:endParaRPr/>
          </a:p>
          <a:p>
            <a:pPr lvl="4"/>
            <a:endParaRPr/>
          </a:p>
        </p:txBody>
      </p:sp>
      <p:sp>
        <p:nvSpPr>
          <p:cNvPr id="3" name="标题文本"/>
          <p:cNvSpPr txBox="1">
            <a:spLocks noGrp="1"/>
          </p:cNvSpPr>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标题文本</a:t>
            </a:r>
          </a:p>
        </p:txBody>
      </p:sp>
      <p:sp>
        <p:nvSpPr>
          <p:cNvPr id="4" name="幻灯片编号"/>
          <p:cNvSpPr txBox="1">
            <a:spLocks noGrp="1"/>
          </p:cNvSpPr>
          <p:nvPr>
            <p:ph type="sldNum" sz="quarter" idx="2"/>
          </p:nvPr>
        </p:nvSpPr>
        <p:spPr>
          <a:xfrm>
            <a:off x="12001500" y="13080999"/>
            <a:ext cx="368504"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NieR:Automata"/>
          <p:cNvSpPr txBox="1">
            <a:spLocks noGrp="1"/>
          </p:cNvSpPr>
          <p:nvPr>
            <p:ph type="title"/>
          </p:nvPr>
        </p:nvSpPr>
        <p:spPr>
          <a:xfrm>
            <a:off x="-95548" y="3442763"/>
            <a:ext cx="14506538" cy="3363793"/>
          </a:xfrm>
          <a:prstGeom prst="rect">
            <a:avLst/>
          </a:prstGeom>
        </p:spPr>
        <p:txBody>
          <a:bodyPr/>
          <a:lstStyle>
            <a:lvl1pPr>
              <a:defRPr spc="-300"/>
            </a:lvl1pPr>
          </a:lstStyle>
          <a:p>
            <a:r>
              <a:t>NieR:Automata</a:t>
            </a:r>
          </a:p>
        </p:txBody>
      </p:sp>
      <p:sp>
        <p:nvSpPr>
          <p:cNvPr id="172" name="尼尔.机械纪元   序章"/>
          <p:cNvSpPr txBox="1">
            <a:spLocks noGrp="1"/>
          </p:cNvSpPr>
          <p:nvPr>
            <p:ph type="body" sz="quarter" idx="1"/>
          </p:nvPr>
        </p:nvSpPr>
        <p:spPr>
          <a:xfrm>
            <a:off x="-44747" y="6730162"/>
            <a:ext cx="9549418" cy="1905002"/>
          </a:xfrm>
          <a:prstGeom prst="rect">
            <a:avLst/>
          </a:prstGeom>
        </p:spPr>
        <p:txBody>
          <a:bodyPr lIns="50800" tIns="50800" rIns="50800" bIns="50800"/>
          <a:lstStyle>
            <a:lvl1pPr defTabSz="825500">
              <a:defRPr sz="5500"/>
            </a:lvl1pPr>
          </a:lstStyle>
          <a:p>
            <a:r>
              <a:t>尼尔.机械纪元   序章</a:t>
            </a:r>
          </a:p>
        </p:txBody>
      </p:sp>
      <p:sp>
        <p:nvSpPr>
          <p:cNvPr id="173" name="·关卡拆解：「工厂废墟-上层」  序章将玩家拉入尼尔世界观，体验完整轮回，玩家学习基础战斗 ·"/>
          <p:cNvSpPr txBox="1"/>
          <p:nvPr/>
        </p:nvSpPr>
        <p:spPr>
          <a:xfrm>
            <a:off x="639612" y="6259676"/>
            <a:ext cx="23654508" cy="1196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defTabSz="759459">
              <a:lnSpc>
                <a:spcPct val="100000"/>
              </a:lnSpc>
              <a:spcBef>
                <a:spcPts val="0"/>
              </a:spcBef>
              <a:defRPr sz="4100">
                <a:latin typeface="儷宋 Pro"/>
                <a:ea typeface="儷宋 Pro"/>
                <a:cs typeface="儷宋 Pro"/>
                <a:sym typeface="儷宋 Pro"/>
              </a:defRPr>
            </a:lvl1pPr>
          </a:lstStyle>
          <a:p>
            <a:r>
              <a:t>·关卡拆解：「工厂废墟-上层」  序章将玩家拉入尼尔世界观，体验完整轮回，玩家学习基础战斗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联络员」直接与玩家对话【飞行射击小游戏阶段结束后，玩家降落在机械生命体（敌人）的生产基地内部，初次操作角色】，玩家被联络员告知任务的目标是消灭此处新出现的大型敌人。"/>
          <p:cNvSpPr txBox="1"/>
          <p:nvPr/>
        </p:nvSpPr>
        <p:spPr>
          <a:xfrm>
            <a:off x="122366" y="11346642"/>
            <a:ext cx="24139266" cy="16217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500">
                <a:latin typeface="儷宋 Pro"/>
                <a:ea typeface="儷宋 Pro"/>
                <a:cs typeface="儷宋 Pro"/>
                <a:sym typeface="儷宋 Pro"/>
              </a:defRPr>
            </a:lvl1pPr>
          </a:lstStyle>
          <a:p>
            <a:r>
              <a:t>「联络员」直接与玩家对话【飞行射击小游戏阶段结束后，玩家降落在机械生命体（敌人）的生产基地内部，初次操作角色】，玩家被联络员告知任务的目标是消灭此处新出现的大型敌人。     </a:t>
            </a:r>
          </a:p>
        </p:txBody>
      </p:sp>
      <p:sp>
        <p:nvSpPr>
          <p:cNvPr id="176" name="尼尔.机械纪元   序章引导"/>
          <p:cNvSpPr txBox="1">
            <a:spLocks noGrp="1"/>
          </p:cNvSpPr>
          <p:nvPr>
            <p:ph type="body" sz="quarter" idx="1"/>
          </p:nvPr>
        </p:nvSpPr>
        <p:spPr>
          <a:xfrm>
            <a:off x="-1540" y="4223823"/>
            <a:ext cx="18416266" cy="1905002"/>
          </a:xfrm>
          <a:prstGeom prst="rect">
            <a:avLst/>
          </a:prstGeom>
        </p:spPr>
        <p:txBody>
          <a:bodyPr lIns="50800" tIns="50800" rIns="50800" bIns="50800"/>
          <a:lstStyle>
            <a:lvl1pPr defTabSz="825500">
              <a:defRPr sz="6400"/>
            </a:lvl1pPr>
          </a:lstStyle>
          <a:p>
            <a:r>
              <a:t>尼尔.机械纪元   序章引导 </a:t>
            </a:r>
          </a:p>
        </p:txBody>
      </p:sp>
      <p:sp>
        <p:nvSpPr>
          <p:cNvPr id="177" name="· 本地图目的…"/>
          <p:cNvSpPr txBox="1"/>
          <p:nvPr/>
        </p:nvSpPr>
        <p:spPr>
          <a:xfrm>
            <a:off x="25206" y="5395762"/>
            <a:ext cx="12282913" cy="40964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defTabSz="825500">
              <a:lnSpc>
                <a:spcPct val="100000"/>
              </a:lnSpc>
              <a:spcBef>
                <a:spcPts val="0"/>
              </a:spcBef>
              <a:defRPr sz="4000" b="1"/>
            </a:pPr>
            <a:r>
              <a:rPr dirty="0"/>
              <a:t>· </a:t>
            </a:r>
            <a:r>
              <a:rPr dirty="0" err="1"/>
              <a:t>本地图目的</a:t>
            </a:r>
            <a:endParaRPr dirty="0"/>
          </a:p>
          <a:p>
            <a:pPr defTabSz="825500">
              <a:lnSpc>
                <a:spcPct val="100000"/>
              </a:lnSpc>
              <a:spcBef>
                <a:spcPts val="0"/>
              </a:spcBef>
              <a:defRPr sz="4000" b="1"/>
            </a:pPr>
            <a:r>
              <a:rPr dirty="0"/>
              <a:t>· POD (</a:t>
            </a:r>
            <a:r>
              <a:rPr dirty="0" err="1"/>
              <a:t>辅助机</a:t>
            </a:r>
            <a:r>
              <a:rPr dirty="0"/>
              <a:t>) - </a:t>
            </a:r>
            <a:r>
              <a:rPr dirty="0" err="1"/>
              <a:t>HUD提示与通讯联络</a:t>
            </a:r>
            <a:endParaRPr dirty="0"/>
          </a:p>
          <a:p>
            <a:pPr defTabSz="825500">
              <a:lnSpc>
                <a:spcPct val="100000"/>
              </a:lnSpc>
              <a:spcBef>
                <a:spcPts val="0"/>
              </a:spcBef>
              <a:defRPr sz="4000" b="1"/>
            </a:pPr>
            <a:r>
              <a:rPr dirty="0"/>
              <a:t>· </a:t>
            </a:r>
            <a:r>
              <a:rPr dirty="0" err="1"/>
              <a:t>敌人警示灯</a:t>
            </a:r>
            <a:r>
              <a:rPr dirty="0"/>
              <a:t> - </a:t>
            </a:r>
            <a:r>
              <a:rPr dirty="0" err="1"/>
              <a:t>状态提示</a:t>
            </a:r>
            <a:endParaRPr dirty="0"/>
          </a:p>
          <a:p>
            <a:pPr defTabSz="825500">
              <a:lnSpc>
                <a:spcPct val="100000"/>
              </a:lnSpc>
              <a:spcBef>
                <a:spcPts val="0"/>
              </a:spcBef>
              <a:defRPr sz="4000" b="1"/>
            </a:pPr>
            <a:r>
              <a:rPr dirty="0"/>
              <a:t>· POI - </a:t>
            </a:r>
            <a:r>
              <a:rPr dirty="0" err="1"/>
              <a:t>光影，接敌，奖励</a:t>
            </a:r>
            <a:endParaRPr dirty="0"/>
          </a:p>
          <a:p>
            <a:pPr defTabSz="825500">
              <a:lnSpc>
                <a:spcPct val="100000"/>
              </a:lnSpc>
              <a:spcBef>
                <a:spcPts val="0"/>
              </a:spcBef>
              <a:defRPr sz="4000" b="1"/>
            </a:pPr>
            <a:r>
              <a:rPr dirty="0"/>
              <a:t>· </a:t>
            </a:r>
            <a:r>
              <a:rPr dirty="0" err="1"/>
              <a:t>场域</a:t>
            </a:r>
            <a:r>
              <a:rPr dirty="0"/>
              <a:t>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 name="截屏2026-07-08 16.15.50.png" descr="截屏2026-07-08 16.15.50.png"/>
          <p:cNvPicPr>
            <a:picLocks noChangeAspect="1"/>
          </p:cNvPicPr>
          <p:nvPr/>
        </p:nvPicPr>
        <p:blipFill>
          <a:blip r:embed="rId3"/>
          <a:stretch>
            <a:fillRect/>
          </a:stretch>
        </p:blipFill>
        <p:spPr>
          <a:xfrm>
            <a:off x="11148683" y="-34408"/>
            <a:ext cx="13235737" cy="13784816"/>
          </a:xfrm>
          <a:prstGeom prst="rect">
            <a:avLst/>
          </a:prstGeom>
          <a:ln w="12700">
            <a:miter lim="400000"/>
          </a:ln>
        </p:spPr>
      </p:pic>
      <p:sp>
        <p:nvSpPr>
          <p:cNvPr id="180" name="「概念说明」关卡的空间由3个带电梯的垂直多层圆柱体建筑和一个巨大的长矩形海上平台通过金属桥梁相互连通而成（此区域有暂时无法打开的门连接到巨大的地下部分「工厂核心」），有一个返回的近路x，玩家需要从突破的管道（橙色点）开始，击败最少52个敌人和Boss1（蓝色点），在不读档的情况下抵达章节的终点（黄色点）击败Boss2。"/>
          <p:cNvSpPr txBox="1"/>
          <p:nvPr/>
        </p:nvSpPr>
        <p:spPr>
          <a:xfrm>
            <a:off x="112706" y="7154312"/>
            <a:ext cx="10831340" cy="64566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500">
                <a:latin typeface="儷宋 Pro"/>
                <a:ea typeface="儷宋 Pro"/>
                <a:cs typeface="儷宋 Pro"/>
                <a:sym typeface="儷宋 Pro"/>
              </a:defRPr>
            </a:lvl1pPr>
          </a:lstStyle>
          <a:p>
            <a:r>
              <a:rPr dirty="0"/>
              <a:t>「概念说明」关卡的空间由3个带电梯的垂直多层圆柱体建筑和一个巨大的长矩形海上平台通过金属桥梁相互连通而成（此区域有暂时无法打开的门连接到巨大的地下部分「工厂核心」），有一个返回的近路x，玩家需要从突破的管道（橙色点）开始，击败最少52个敌人和Boss1（蓝色点），在不读档的情况下抵达章节的终点（黄色点）击败Boss2。       </a:t>
            </a:r>
          </a:p>
        </p:txBody>
      </p:sp>
      <p:sp>
        <p:nvSpPr>
          <p:cNvPr id="181" name="地图总览 「工厂废墟-上层」"/>
          <p:cNvSpPr txBox="1">
            <a:spLocks noGrp="1"/>
          </p:cNvSpPr>
          <p:nvPr>
            <p:ph type="body" sz="quarter" idx="1"/>
          </p:nvPr>
        </p:nvSpPr>
        <p:spPr>
          <a:xfrm>
            <a:off x="331118" y="5477143"/>
            <a:ext cx="18416266" cy="1905002"/>
          </a:xfrm>
          <a:prstGeom prst="rect">
            <a:avLst/>
          </a:prstGeom>
        </p:spPr>
        <p:txBody>
          <a:bodyPr lIns="50800" tIns="50800" rIns="50800" bIns="50800"/>
          <a:lstStyle>
            <a:lvl1pPr defTabSz="825500">
              <a:defRPr sz="5500"/>
            </a:lvl1pPr>
          </a:lstStyle>
          <a:p>
            <a:r>
              <a:rPr dirty="0" err="1"/>
              <a:t>地图总览</a:t>
            </a:r>
            <a:r>
              <a:rPr dirty="0"/>
              <a:t> 「</a:t>
            </a:r>
            <a:r>
              <a:rPr dirty="0" err="1"/>
              <a:t>工厂废墟-上层</a:t>
            </a:r>
            <a:r>
              <a:rPr dirty="0"/>
              <a: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图像" descr="图像"/>
          <p:cNvPicPr>
            <a:picLocks noChangeAspect="1"/>
          </p:cNvPicPr>
          <p:nvPr/>
        </p:nvPicPr>
        <p:blipFill>
          <a:blip r:embed="rId3"/>
          <a:stretch>
            <a:fillRect/>
          </a:stretch>
        </p:blipFill>
        <p:spPr>
          <a:xfrm>
            <a:off x="14578057" y="830580"/>
            <a:ext cx="9089831" cy="12171129"/>
          </a:xfrm>
          <a:prstGeom prst="rect">
            <a:avLst/>
          </a:prstGeom>
          <a:ln w="12700">
            <a:miter lim="400000"/>
          </a:ln>
        </p:spPr>
      </p:pic>
      <p:sp>
        <p:nvSpPr>
          <p:cNvPr id="184" name="设计分析 「工厂废墟-上层」游戏内"/>
          <p:cNvSpPr txBox="1">
            <a:spLocks noGrp="1"/>
          </p:cNvSpPr>
          <p:nvPr>
            <p:ph type="body" sz="quarter" idx="1"/>
          </p:nvPr>
        </p:nvSpPr>
        <p:spPr>
          <a:xfrm>
            <a:off x="32818" y="4496322"/>
            <a:ext cx="18416266" cy="1905002"/>
          </a:xfrm>
          <a:prstGeom prst="rect">
            <a:avLst/>
          </a:prstGeom>
        </p:spPr>
        <p:txBody>
          <a:bodyPr lIns="50800" tIns="50800" rIns="50800" bIns="50800"/>
          <a:lstStyle>
            <a:lvl1pPr defTabSz="825500">
              <a:defRPr sz="5500"/>
            </a:lvl1pPr>
          </a:lstStyle>
          <a:p>
            <a:r>
              <a:t>设计分析 「工厂废墟-上层」游戏内</a:t>
            </a:r>
          </a:p>
        </p:txBody>
      </p:sp>
      <p:graphicFrame>
        <p:nvGraphicFramePr>
          <p:cNvPr id="185" name="表格 1"/>
          <p:cNvGraphicFramePr/>
          <p:nvPr/>
        </p:nvGraphicFramePr>
        <p:xfrm>
          <a:off x="965992" y="7204902"/>
          <a:ext cx="12399060" cy="5332105"/>
        </p:xfrm>
        <a:graphic>
          <a:graphicData uri="http://schemas.openxmlformats.org/drawingml/2006/table">
            <a:tbl>
              <a:tblPr firstRow="1" firstCol="1">
                <a:tableStyleId>{4C3C2611-4C71-4FC5-86AE-919BDF0F9419}</a:tableStyleId>
              </a:tblPr>
              <a:tblGrid>
                <a:gridCol w="3099765">
                  <a:extLst>
                    <a:ext uri="{9D8B030D-6E8A-4147-A177-3AD203B41FA5}">
                      <a16:colId xmlns:a16="http://schemas.microsoft.com/office/drawing/2014/main" val="20000"/>
                    </a:ext>
                  </a:extLst>
                </a:gridCol>
                <a:gridCol w="3099765">
                  <a:extLst>
                    <a:ext uri="{9D8B030D-6E8A-4147-A177-3AD203B41FA5}">
                      <a16:colId xmlns:a16="http://schemas.microsoft.com/office/drawing/2014/main" val="20001"/>
                    </a:ext>
                  </a:extLst>
                </a:gridCol>
                <a:gridCol w="3099765">
                  <a:extLst>
                    <a:ext uri="{9D8B030D-6E8A-4147-A177-3AD203B41FA5}">
                      <a16:colId xmlns:a16="http://schemas.microsoft.com/office/drawing/2014/main" val="20002"/>
                    </a:ext>
                  </a:extLst>
                </a:gridCol>
                <a:gridCol w="3099765">
                  <a:extLst>
                    <a:ext uri="{9D8B030D-6E8A-4147-A177-3AD203B41FA5}">
                      <a16:colId xmlns:a16="http://schemas.microsoft.com/office/drawing/2014/main" val="20003"/>
                    </a:ext>
                  </a:extLst>
                </a:gridCol>
              </a:tblGrid>
              <a:tr h="1066421">
                <a:tc>
                  <a:txBody>
                    <a:bodyPr/>
                    <a:lstStyle/>
                    <a:p>
                      <a:pPr defTabSz="914400">
                        <a:tabLst>
                          <a:tab pos="1663700" algn="l"/>
                        </a:tabLst>
                        <a:defRPr b="0"/>
                      </a:pPr>
                      <a:r>
                        <a:rPr sz="3200" b="1"/>
                        <a:t>设计目标</a:t>
                      </a:r>
                    </a:p>
                  </a:txBody>
                  <a:tcPr marL="50800" marR="50800" marT="50800" marB="50800" anchor="ctr" horzOverflow="overflow"/>
                </a:tc>
                <a:tc gridSpan="3">
                  <a:txBody>
                    <a:bodyPr/>
                    <a:lstStyle/>
                    <a:p>
                      <a:pPr defTabSz="914400">
                        <a:tabLst>
                          <a:tab pos="1663700" algn="l"/>
                        </a:tabLst>
                        <a:defRPr b="0"/>
                      </a:pPr>
                      <a:r>
                        <a:rPr sz="3200" b="1"/>
                        <a:t>实现情况</a:t>
                      </a:r>
                    </a:p>
                  </a:txBody>
                  <a:tcPr marL="50800" marR="50800" marT="50800" marB="50800" anchor="ctr" horzOverflow="overflow"/>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066421">
                <a:tc>
                  <a:txBody>
                    <a:bodyPr/>
                    <a:lstStyle/>
                    <a:p>
                      <a:pPr defTabSz="914400">
                        <a:tabLst>
                          <a:tab pos="1663700" algn="l"/>
                        </a:tabLst>
                        <a:defRPr b="0"/>
                      </a:pPr>
                      <a:r>
                        <a:rPr sz="3200" b="1"/>
                        <a:t>探索难度降低</a:t>
                      </a:r>
                    </a:p>
                  </a:txBody>
                  <a:tcPr marL="50800" marR="50800" marT="50800" marB="50800" anchor="ctr" horzOverflow="overflow"/>
                </a:tc>
                <a:tc gridSpan="3">
                  <a:txBody>
                    <a:bodyPr/>
                    <a:lstStyle/>
                    <a:p>
                      <a:pPr defTabSz="914400"/>
                      <a:r>
                        <a:rPr sz="3200"/>
                        <a:t>单线性探索，极少岔路，没有错过点位的概率</a:t>
                      </a:r>
                    </a:p>
                  </a:txBody>
                  <a:tcPr marL="50800" marR="50800" marT="50800" marB="50800" anchor="ctr" horzOverflow="overflow"/>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1066421">
                <a:tc>
                  <a:txBody>
                    <a:bodyPr/>
                    <a:lstStyle/>
                    <a:p>
                      <a:pPr defTabSz="914400">
                        <a:tabLst>
                          <a:tab pos="1663700" algn="l"/>
                        </a:tabLst>
                        <a:defRPr b="0"/>
                      </a:pPr>
                      <a:r>
                        <a:rPr sz="3200" b="1"/>
                        <a:t>识图难度高</a:t>
                      </a:r>
                    </a:p>
                  </a:txBody>
                  <a:tcPr marL="50800" marR="50800" marT="50800" marB="50800" anchor="ctr" horzOverflow="overflow"/>
                </a:tc>
                <a:tc>
                  <a:txBody>
                    <a:bodyPr/>
                    <a:lstStyle/>
                    <a:p>
                      <a:pPr defTabSz="914400"/>
                      <a:r>
                        <a:rPr sz="3200"/>
                        <a:t>任务只给范围</a:t>
                      </a:r>
                    </a:p>
                  </a:txBody>
                  <a:tcPr marL="50800" marR="50800" marT="50800" marB="50800" anchor="ctr" horzOverflow="overflow"/>
                </a:tc>
                <a:tc>
                  <a:txBody>
                    <a:bodyPr/>
                    <a:lstStyle/>
                    <a:p>
                      <a:pPr defTabSz="914400"/>
                      <a:r>
                        <a:rPr sz="3200"/>
                        <a:t>无法识别多楼层</a:t>
                      </a:r>
                    </a:p>
                  </a:txBody>
                  <a:tcPr marL="50800" marR="50800" marT="50800" marB="50800" anchor="ctr" horzOverflow="overflow"/>
                </a:tc>
                <a:tc>
                  <a:txBody>
                    <a:bodyPr/>
                    <a:lstStyle/>
                    <a:p>
                      <a:pPr defTabSz="914400"/>
                      <a:r>
                        <a:rPr sz="3200"/>
                        <a:t>模拟雷达图</a:t>
                      </a:r>
                    </a:p>
                  </a:txBody>
                  <a:tcPr marL="50800" marR="50800" marT="50800" marB="50800" anchor="ctr" horzOverflow="overflow"/>
                </a:tc>
                <a:extLst>
                  <a:ext uri="{0D108BD9-81ED-4DB2-BD59-A6C34878D82A}">
                    <a16:rowId xmlns:a16="http://schemas.microsoft.com/office/drawing/2014/main" val="10002"/>
                  </a:ext>
                </a:extLst>
              </a:tr>
              <a:tr h="1066421">
                <a:tc>
                  <a:txBody>
                    <a:bodyPr/>
                    <a:lstStyle/>
                    <a:p>
                      <a:pPr defTabSz="914400">
                        <a:tabLst>
                          <a:tab pos="1663700" algn="l"/>
                        </a:tabLst>
                        <a:defRPr b="0"/>
                      </a:pPr>
                      <a:r>
                        <a:rPr sz="3200" b="1"/>
                        <a:t>世界观展开</a:t>
                      </a:r>
                    </a:p>
                  </a:txBody>
                  <a:tcPr marL="50800" marR="50800" marT="50800" marB="50800" anchor="ctr" horzOverflow="overflow"/>
                </a:tc>
                <a:tc>
                  <a:txBody>
                    <a:bodyPr/>
                    <a:lstStyle/>
                    <a:p>
                      <a:pPr defTabSz="914400"/>
                      <a:r>
                        <a:rPr sz="3200"/>
                        <a:t>通过POD叙述</a:t>
                      </a:r>
                    </a:p>
                  </a:txBody>
                  <a:tcPr marL="50800" marR="50800" marT="50800" marB="50800" anchor="ctr" horzOverflow="overflow"/>
                </a:tc>
                <a:tc>
                  <a:txBody>
                    <a:bodyPr/>
                    <a:lstStyle/>
                    <a:p>
                      <a:pPr defTabSz="914400"/>
                      <a:r>
                        <a:rPr sz="3200"/>
                        <a:t>末世场景叙事</a:t>
                      </a:r>
                    </a:p>
                  </a:txBody>
                  <a:tcPr marL="50800" marR="50800" marT="50800" marB="50800" anchor="ctr" horzOverflow="overflow"/>
                </a:tc>
                <a:tc>
                  <a:txBody>
                    <a:bodyPr/>
                    <a:lstStyle/>
                    <a:p>
                      <a:pPr defTabSz="914400"/>
                      <a:r>
                        <a:rPr sz="3200"/>
                        <a:t>假信息暗示结局</a:t>
                      </a:r>
                    </a:p>
                  </a:txBody>
                  <a:tcPr marL="50800" marR="50800" marT="50800" marB="50800" anchor="ctr" horzOverflow="overflow"/>
                </a:tc>
                <a:extLst>
                  <a:ext uri="{0D108BD9-81ED-4DB2-BD59-A6C34878D82A}">
                    <a16:rowId xmlns:a16="http://schemas.microsoft.com/office/drawing/2014/main" val="10003"/>
                  </a:ext>
                </a:extLst>
              </a:tr>
              <a:tr h="1066421">
                <a:tc>
                  <a:txBody>
                    <a:bodyPr/>
                    <a:lstStyle/>
                    <a:p>
                      <a:pPr defTabSz="914400">
                        <a:tabLst>
                          <a:tab pos="1663700" algn="l"/>
                        </a:tabLst>
                        <a:defRPr b="0"/>
                      </a:pPr>
                      <a:r>
                        <a:rPr sz="3200" b="1"/>
                        <a:t>培养探索习惯</a:t>
                      </a:r>
                    </a:p>
                  </a:txBody>
                  <a:tcPr marL="50800" marR="50800" marT="50800" marB="50800" anchor="ctr" horzOverflow="overflow"/>
                </a:tc>
                <a:tc>
                  <a:txBody>
                    <a:bodyPr/>
                    <a:lstStyle/>
                    <a:p>
                      <a:pPr defTabSz="914400"/>
                      <a:r>
                        <a:rPr sz="3200"/>
                        <a:t>死亡无存档</a:t>
                      </a:r>
                    </a:p>
                  </a:txBody>
                  <a:tcPr marL="50800" marR="50800" marT="50800" marB="50800" anchor="ctr" horzOverflow="overflow"/>
                </a:tc>
                <a:tc>
                  <a:txBody>
                    <a:bodyPr/>
                    <a:lstStyle/>
                    <a:p>
                      <a:pPr defTabSz="914400"/>
                      <a:r>
                        <a:rPr sz="3200"/>
                        <a:t>宝箱提示岔路</a:t>
                      </a:r>
                    </a:p>
                  </a:txBody>
                  <a:tcPr marL="50800" marR="50800" marT="50800" marB="50800" anchor="ctr" horzOverflow="overflow"/>
                </a:tc>
                <a:tc>
                  <a:txBody>
                    <a:bodyPr/>
                    <a:lstStyle/>
                    <a:p>
                      <a:pPr defTabSz="914400"/>
                      <a:r>
                        <a:rPr sz="3200"/>
                        <a:t>需要记忆地图</a:t>
                      </a:r>
                    </a:p>
                  </a:txBody>
                  <a:tcPr marL="50800" marR="50800" marT="50800" marB="50800" anchor="ctr" horzOverflow="overflow"/>
                </a:tc>
                <a:extLst>
                  <a:ext uri="{0D108BD9-81ED-4DB2-BD59-A6C34878D82A}">
                    <a16:rowId xmlns:a16="http://schemas.microsoft.com/office/drawing/2014/main" val="10004"/>
                  </a:ext>
                </a:extLst>
              </a:tr>
            </a:tbl>
          </a:graphicData>
        </a:graphic>
      </p:graphicFrame>
      <p:sp>
        <p:nvSpPr>
          <p:cNvPr id="186" name="玩家进入游戏后的新手教程，全程通过POD的语音和投影为玩家发布任务和教学操作，藏在了游戏内的现实中"/>
          <p:cNvSpPr txBox="1"/>
          <p:nvPr/>
        </p:nvSpPr>
        <p:spPr>
          <a:xfrm>
            <a:off x="71566" y="5428655"/>
            <a:ext cx="14086314" cy="16217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500">
                <a:latin typeface="儷宋 Pro"/>
                <a:ea typeface="儷宋 Pro"/>
                <a:cs typeface="儷宋 Pro"/>
                <a:sym typeface="儷宋 Pro"/>
              </a:defRPr>
            </a:lvl1pPr>
          </a:lstStyle>
          <a:p>
            <a:r>
              <a:rPr dirty="0" err="1"/>
              <a:t>玩家进入游戏后的新手教程，全程通过POD的语音和投影为玩家发布任务和教学操作，藏在了游戏内的现实中</a:t>
            </a:r>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本关目的是让玩家通过3个桥段（开头-介绍世界背景、Boss1处-口述任务，结尾-指挥错误造成任务失败）、击杀敌人和共2个Boss了解剧情、熟悉使用近战武器操作和使用POD射击，了解敌人的攻击模式和种类。…"/>
          <p:cNvSpPr txBox="1"/>
          <p:nvPr/>
        </p:nvSpPr>
        <p:spPr>
          <a:xfrm>
            <a:off x="101535" y="4035424"/>
            <a:ext cx="24063500" cy="56451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just">
              <a:defRPr sz="4500">
                <a:latin typeface="儷宋 Pro"/>
                <a:ea typeface="儷宋 Pro"/>
                <a:cs typeface="儷宋 Pro"/>
                <a:sym typeface="儷宋 Pro"/>
              </a:defRPr>
            </a:pPr>
            <a:r>
              <a:t>本关目的是让玩家通过3个桥段（开头-介绍世界背景、Boss1处-口述任务，结尾-指挥错误造成任务失败）、击杀敌人和共2个Boss了解剧情、熟悉使用近战武器操作和使用POD射击，了解敌人的攻击模式和种类。</a:t>
            </a:r>
          </a:p>
          <a:p>
            <a:pPr algn="just">
              <a:defRPr sz="4500">
                <a:latin typeface="儷宋 Pro"/>
                <a:ea typeface="儷宋 Pro"/>
                <a:cs typeface="儷宋 Pro"/>
                <a:sym typeface="儷宋 Pro"/>
              </a:defRPr>
            </a:pPr>
            <a:r>
              <a:t>明确叙事的长期目的，增加指挥部的神秘感，让玩家了解到友军拥有的技术与情报的有限性。在序章结束时有剧情杀，借助叙事教学玩家复活时读取的时间点和存档方式。</a:t>
            </a:r>
          </a:p>
          <a:p>
            <a:pPr algn="just">
              <a:defRPr sz="4500">
                <a:latin typeface="儷宋 Pro"/>
                <a:ea typeface="儷宋 Pro"/>
                <a:cs typeface="儷宋 Pro"/>
                <a:sym typeface="儷宋 Pro"/>
              </a:defRPr>
            </a:pPr>
            <a:r>
              <a:t>序章不提供存档点的设计（但能选择难度）能给选择困难难度的玩家提供足够的挑战。</a:t>
            </a:r>
          </a:p>
        </p:txBody>
      </p:sp>
      <p:sp>
        <p:nvSpPr>
          <p:cNvPr id="189" name="设计目的"/>
          <p:cNvSpPr txBox="1">
            <a:spLocks noGrp="1"/>
          </p:cNvSpPr>
          <p:nvPr>
            <p:ph type="body" sz="quarter" idx="1"/>
          </p:nvPr>
        </p:nvSpPr>
        <p:spPr>
          <a:xfrm>
            <a:off x="67177" y="2733206"/>
            <a:ext cx="9134835" cy="1269239"/>
          </a:xfrm>
          <a:prstGeom prst="rect">
            <a:avLst/>
          </a:prstGeom>
        </p:spPr>
        <p:txBody>
          <a:bodyPr lIns="50800" tIns="50800" rIns="50800" bIns="50800"/>
          <a:lstStyle>
            <a:lvl1pPr defTabSz="825500">
              <a:defRPr sz="5500"/>
            </a:lvl1pPr>
          </a:lstStyle>
          <a:p>
            <a:r>
              <a:t>设计目的</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已粘贴的影片.png" descr="已粘贴的影片.png"/>
          <p:cNvPicPr>
            <a:picLocks noChangeAspect="1"/>
          </p:cNvPicPr>
          <p:nvPr/>
        </p:nvPicPr>
        <p:blipFill>
          <a:blip r:embed="rId3"/>
          <a:stretch>
            <a:fillRect/>
          </a:stretch>
        </p:blipFill>
        <p:spPr>
          <a:xfrm>
            <a:off x="12920011" y="5059391"/>
            <a:ext cx="10329133" cy="8378878"/>
          </a:xfrm>
          <a:prstGeom prst="rect">
            <a:avLst/>
          </a:prstGeom>
          <a:ln w="12700">
            <a:miter lim="400000"/>
          </a:ln>
        </p:spPr>
      </p:pic>
      <p:pic>
        <p:nvPicPr>
          <p:cNvPr id="192" name="已粘贴的影片.png" descr="已粘贴的影片.png"/>
          <p:cNvPicPr>
            <a:picLocks noChangeAspect="1"/>
          </p:cNvPicPr>
          <p:nvPr/>
        </p:nvPicPr>
        <p:blipFill>
          <a:blip r:embed="rId4"/>
          <a:stretch>
            <a:fillRect/>
          </a:stretch>
        </p:blipFill>
        <p:spPr>
          <a:xfrm>
            <a:off x="1820572" y="5059391"/>
            <a:ext cx="10860175" cy="8378878"/>
          </a:xfrm>
          <a:prstGeom prst="rect">
            <a:avLst/>
          </a:prstGeom>
          <a:ln w="12700">
            <a:miter lim="400000"/>
          </a:ln>
        </p:spPr>
      </p:pic>
      <p:sp>
        <p:nvSpPr>
          <p:cNvPr id="193" name="权限授予-战斗教学"/>
          <p:cNvSpPr txBox="1">
            <a:spLocks noGrp="1"/>
          </p:cNvSpPr>
          <p:nvPr>
            <p:ph type="body" sz="quarter" idx="1"/>
          </p:nvPr>
        </p:nvSpPr>
        <p:spPr>
          <a:xfrm>
            <a:off x="376744" y="7062216"/>
            <a:ext cx="6229683" cy="1114226"/>
          </a:xfrm>
          <a:prstGeom prst="rect">
            <a:avLst/>
          </a:prstGeom>
          <a:solidFill>
            <a:srgbClr val="FFFFFF"/>
          </a:solidFill>
        </p:spPr>
        <p:txBody>
          <a:bodyPr lIns="50800" tIns="50800" rIns="50800" bIns="50800"/>
          <a:lstStyle>
            <a:lvl1pPr defTabSz="825500">
              <a:defRPr sz="5500"/>
            </a:lvl1pPr>
          </a:lstStyle>
          <a:p>
            <a:r>
              <a:t>权限授予-战斗教学</a:t>
            </a:r>
          </a:p>
        </p:txBody>
      </p:sp>
      <p:sp>
        <p:nvSpPr>
          <p:cNvPr id="194" name="·通过POD的全息投影提示玩家如何操作， 一步一步地解锁键位权限 (移动-闪避-远近攻击-技能) ·"/>
          <p:cNvSpPr txBox="1"/>
          <p:nvPr/>
        </p:nvSpPr>
        <p:spPr>
          <a:xfrm>
            <a:off x="386799" y="809025"/>
            <a:ext cx="24139266" cy="876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300">
                <a:latin typeface="儷宋 Pro"/>
                <a:ea typeface="儷宋 Pro"/>
                <a:cs typeface="儷宋 Pro"/>
                <a:sym typeface="儷宋 Pro"/>
              </a:defRPr>
            </a:lvl1pPr>
          </a:lstStyle>
          <a:p>
            <a:r>
              <a:t>·通过POD的全息投影提示玩家如何操作， 一步一步地解锁键位权限 (移动-闪避-远近攻击-技能) ·  </a:t>
            </a:r>
          </a:p>
        </p:txBody>
      </p:sp>
      <p:sp>
        <p:nvSpPr>
          <p:cNvPr id="195" name="每次解锁新能力时游戏难度骤升，让玩家必须使用该方式作战(如闪避、重攻击、远程技能)迫使玩家面对新敌人和Boss时必须了解其攻击方式和弱点，而随后路径上的敌人会以高密度乱战为主，允许玩家使用任何方式解决。"/>
          <p:cNvSpPr txBox="1"/>
          <p:nvPr/>
        </p:nvSpPr>
        <p:spPr>
          <a:xfrm>
            <a:off x="4551361" y="2757374"/>
            <a:ext cx="18717104" cy="22707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300">
                <a:latin typeface="儷宋 Pro"/>
                <a:ea typeface="儷宋 Pro"/>
                <a:cs typeface="儷宋 Pro"/>
                <a:sym typeface="儷宋 Pro"/>
              </a:defRPr>
            </a:lvl1pPr>
          </a:lstStyle>
          <a:p>
            <a:r>
              <a:t>每次解锁新能力时游戏难度骤升，让玩家必须使用该方式作战(如闪避、重攻击、远程技能)迫使玩家面对新敌人和Boss时必须了解其攻击方式和弱点，而随后路径上的敌人会以高密度乱战为主，允许玩家使用任何方式解决。</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截屏2026-07-08 15.31.14.png" descr="截屏2026-07-08 15.31.14.png"/>
          <p:cNvPicPr>
            <a:picLocks noChangeAspect="1"/>
          </p:cNvPicPr>
          <p:nvPr/>
        </p:nvPicPr>
        <p:blipFill>
          <a:blip r:embed="rId3"/>
          <a:stretch>
            <a:fillRect/>
          </a:stretch>
        </p:blipFill>
        <p:spPr>
          <a:xfrm>
            <a:off x="4485001" y="3781588"/>
            <a:ext cx="12983107" cy="9208949"/>
          </a:xfrm>
          <a:prstGeom prst="rect">
            <a:avLst/>
          </a:prstGeom>
          <a:ln w="12700">
            <a:miter lim="400000"/>
          </a:ln>
        </p:spPr>
      </p:pic>
      <p:sp>
        <p:nvSpPr>
          <p:cNvPr id="198" name="区块难度表"/>
          <p:cNvSpPr txBox="1">
            <a:spLocks noGrp="1"/>
          </p:cNvSpPr>
          <p:nvPr>
            <p:ph type="body" sz="quarter" idx="1"/>
          </p:nvPr>
        </p:nvSpPr>
        <p:spPr>
          <a:xfrm>
            <a:off x="418036" y="3308194"/>
            <a:ext cx="6248072" cy="1269240"/>
          </a:xfrm>
          <a:prstGeom prst="rect">
            <a:avLst/>
          </a:prstGeom>
          <a:solidFill>
            <a:srgbClr val="FFFFFF"/>
          </a:solidFill>
        </p:spPr>
        <p:txBody>
          <a:bodyPr lIns="50800" tIns="50800" rIns="50800" bIns="50800"/>
          <a:lstStyle>
            <a:lvl1pPr defTabSz="825500">
              <a:defRPr sz="5500"/>
            </a:lvl1pPr>
          </a:lstStyle>
          <a:p>
            <a:r>
              <a:t>区块难度表</a:t>
            </a:r>
          </a:p>
        </p:txBody>
      </p:sp>
      <p:sp>
        <p:nvSpPr>
          <p:cNvPr id="199" name="敌人类型"/>
          <p:cNvSpPr txBox="1"/>
          <p:nvPr/>
        </p:nvSpPr>
        <p:spPr>
          <a:xfrm>
            <a:off x="13603504" y="5741570"/>
            <a:ext cx="3655494" cy="482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2200">
                <a:latin typeface="PingFang TC Regular"/>
                <a:ea typeface="PingFang TC Regular"/>
                <a:cs typeface="PingFang TC Regular"/>
                <a:sym typeface="PingFang TC Regular"/>
              </a:defRPr>
            </a:lvl1pPr>
          </a:lstStyle>
          <a:p>
            <a:r>
              <a:t>敌人类型</a:t>
            </a:r>
          </a:p>
        </p:txBody>
      </p:sp>
      <p:sp>
        <p:nvSpPr>
          <p:cNvPr id="200" name="弱小的敌人/强大的敌人共享一种头部，眼睛的位置具有三色的警示灯，平常为黄色，进入战斗为红色(攻击时闪烁)，被占据后为绿色。以此视觉提示玩家是否引怪、预判敌人的攻击动作。"/>
          <p:cNvSpPr txBox="1"/>
          <p:nvPr/>
        </p:nvSpPr>
        <p:spPr>
          <a:xfrm>
            <a:off x="294225" y="-59443"/>
            <a:ext cx="23795546" cy="16217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500">
                <a:latin typeface="儷宋 Pro"/>
                <a:ea typeface="儷宋 Pro"/>
                <a:cs typeface="儷宋 Pro"/>
                <a:sym typeface="儷宋 Pro"/>
              </a:defRPr>
            </a:lvl1pPr>
          </a:lstStyle>
          <a:p>
            <a:r>
              <a:rPr dirty="0" err="1"/>
              <a:t>弱小的敌人</a:t>
            </a:r>
            <a:r>
              <a:rPr dirty="0"/>
              <a:t>/</a:t>
            </a:r>
            <a:r>
              <a:rPr dirty="0" err="1"/>
              <a:t>强大的敌人共享一种头部，眼睛的位置具有三色的警示灯，平常为黄色，进入战斗为红色</a:t>
            </a:r>
            <a:r>
              <a:rPr dirty="0"/>
              <a:t>(</a:t>
            </a:r>
            <a:r>
              <a:rPr dirty="0" err="1"/>
              <a:t>攻击时闪烁</a:t>
            </a:r>
            <a:r>
              <a:rPr dirty="0"/>
              <a:t>)，</a:t>
            </a:r>
            <a:r>
              <a:rPr dirty="0" err="1"/>
              <a:t>被占据后为绿色。以此视觉提示玩家是否引怪、预判敌人的攻击动作</a:t>
            </a:r>
            <a:r>
              <a:rPr dirty="0"/>
              <a:t>。</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OI"/>
          <p:cNvSpPr txBox="1">
            <a:spLocks noGrp="1"/>
          </p:cNvSpPr>
          <p:nvPr>
            <p:ph type="body" sz="quarter" idx="1"/>
          </p:nvPr>
        </p:nvSpPr>
        <p:spPr>
          <a:xfrm>
            <a:off x="1206499" y="5905499"/>
            <a:ext cx="2194468" cy="1342118"/>
          </a:xfrm>
          <a:prstGeom prst="rect">
            <a:avLst/>
          </a:prstGeom>
        </p:spPr>
        <p:txBody>
          <a:bodyPr lIns="50800" tIns="50800" rIns="50800" bIns="50800"/>
          <a:lstStyle>
            <a:lvl1pPr defTabSz="825500">
              <a:defRPr sz="5500"/>
            </a:lvl1pPr>
          </a:lstStyle>
          <a:p>
            <a:r>
              <a:t>POI</a:t>
            </a:r>
          </a:p>
        </p:txBody>
      </p:sp>
      <p:pic>
        <p:nvPicPr>
          <p:cNvPr id="203" name="已粘贴的影片.png" descr="已粘贴的影片.png"/>
          <p:cNvPicPr>
            <a:picLocks noChangeAspect="1"/>
          </p:cNvPicPr>
          <p:nvPr/>
        </p:nvPicPr>
        <p:blipFill>
          <a:blip r:embed="rId3"/>
          <a:stretch>
            <a:fillRect/>
          </a:stretch>
        </p:blipFill>
        <p:spPr>
          <a:xfrm>
            <a:off x="17080653" y="-106949"/>
            <a:ext cx="7312973" cy="5978284"/>
          </a:xfrm>
          <a:prstGeom prst="rect">
            <a:avLst/>
          </a:prstGeom>
          <a:ln w="12700">
            <a:miter lim="400000"/>
          </a:ln>
        </p:spPr>
      </p:pic>
      <p:sp>
        <p:nvSpPr>
          <p:cNvPr id="204" name="宝箱诱导玩家跳进「陷阱」，进入一条无法撤退的路线，抉择是否愿意失去退路面对未知。"/>
          <p:cNvSpPr txBox="1"/>
          <p:nvPr/>
        </p:nvSpPr>
        <p:spPr>
          <a:xfrm>
            <a:off x="17122223" y="6290285"/>
            <a:ext cx="7093896" cy="1630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3400">
                <a:latin typeface="儷宋 Pro"/>
                <a:ea typeface="儷宋 Pro"/>
                <a:cs typeface="儷宋 Pro"/>
                <a:sym typeface="儷宋 Pro"/>
              </a:defRPr>
            </a:lvl1pPr>
          </a:lstStyle>
          <a:p>
            <a:r>
              <a:t>宝箱诱导玩家跳进「陷阱」，进入一条无法撤退的路线，抉择是否愿意失去退路面对未知。</a:t>
            </a:r>
          </a:p>
        </p:txBody>
      </p:sp>
      <p:sp>
        <p:nvSpPr>
          <p:cNvPr id="205" name="击杀敌人会掉落道具和金钱，以发现敌人=获得奖励的方式，用敌人吸引玩家前往预设道路。"/>
          <p:cNvSpPr txBox="1"/>
          <p:nvPr/>
        </p:nvSpPr>
        <p:spPr>
          <a:xfrm>
            <a:off x="7717442" y="6290285"/>
            <a:ext cx="8172496" cy="1630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3400">
                <a:latin typeface="儷宋 Pro"/>
                <a:ea typeface="儷宋 Pro"/>
                <a:cs typeface="儷宋 Pro"/>
                <a:sym typeface="儷宋 Pro"/>
              </a:defRPr>
            </a:lvl1pPr>
          </a:lstStyle>
          <a:p>
            <a:r>
              <a:t>击杀敌人会掉落道具和金钱，以发现敌人=获得奖励的方式，用敌人吸引玩家前往预设道路。</a:t>
            </a:r>
          </a:p>
        </p:txBody>
      </p:sp>
      <p:pic>
        <p:nvPicPr>
          <p:cNvPr id="206" name="截屏2026-07-08 17.53.16.png" descr="截屏2026-07-08 17.53.16.png"/>
          <p:cNvPicPr>
            <a:picLocks noChangeAspect="1"/>
          </p:cNvPicPr>
          <p:nvPr/>
        </p:nvPicPr>
        <p:blipFill>
          <a:blip r:embed="rId4"/>
          <a:stretch>
            <a:fillRect/>
          </a:stretch>
        </p:blipFill>
        <p:spPr>
          <a:xfrm>
            <a:off x="7767070" y="-106949"/>
            <a:ext cx="8209176" cy="5978284"/>
          </a:xfrm>
          <a:prstGeom prst="rect">
            <a:avLst/>
          </a:prstGeom>
          <a:ln w="12700">
            <a:miter lim="400000"/>
          </a:ln>
        </p:spPr>
      </p:pic>
      <p:sp>
        <p:nvSpPr>
          <p:cNvPr id="207" name="形状"/>
          <p:cNvSpPr/>
          <p:nvPr/>
        </p:nvSpPr>
        <p:spPr>
          <a:xfrm>
            <a:off x="9432560" y="149836"/>
            <a:ext cx="1023235" cy="583958"/>
          </a:xfrm>
          <a:custGeom>
            <a:avLst/>
            <a:gdLst/>
            <a:ahLst/>
            <a:cxnLst>
              <a:cxn ang="0">
                <a:pos x="wd2" y="hd2"/>
              </a:cxn>
              <a:cxn ang="5400000">
                <a:pos x="wd2" y="hd2"/>
              </a:cxn>
              <a:cxn ang="10800000">
                <a:pos x="wd2" y="hd2"/>
              </a:cxn>
              <a:cxn ang="16200000">
                <a:pos x="wd2" y="hd2"/>
              </a:cxn>
            </a:cxnLst>
            <a:rect l="0" t="0" r="r" b="b"/>
            <a:pathLst>
              <a:path w="21600" h="21600" extrusionOk="0">
                <a:moveTo>
                  <a:pt x="16678" y="15268"/>
                </a:moveTo>
                <a:lnTo>
                  <a:pt x="11176" y="21600"/>
                </a:lnTo>
                <a:lnTo>
                  <a:pt x="21600" y="18040"/>
                </a:lnTo>
                <a:lnTo>
                  <a:pt x="17286" y="2961"/>
                </a:lnTo>
                <a:lnTo>
                  <a:pt x="17216" y="12287"/>
                </a:lnTo>
                <a:lnTo>
                  <a:pt x="714" y="0"/>
                </a:lnTo>
                <a:lnTo>
                  <a:pt x="0" y="3563"/>
                </a:lnTo>
                <a:lnTo>
                  <a:pt x="16678" y="15268"/>
                </a:lnTo>
                <a:close/>
              </a:path>
            </a:pathLst>
          </a:custGeom>
          <a:solidFill>
            <a:srgbClr val="00A1FF"/>
          </a:solidFill>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endParaRPr/>
          </a:p>
        </p:txBody>
      </p:sp>
      <p:sp>
        <p:nvSpPr>
          <p:cNvPr id="208" name="同时，大门上设有红色-锁定和蓝色-解锁的灯光，玩家可以借此提示回顾自己经过的路线，在序章中出现是在为后续的复杂关卡铺垫。"/>
          <p:cNvSpPr txBox="1"/>
          <p:nvPr/>
        </p:nvSpPr>
        <p:spPr>
          <a:xfrm>
            <a:off x="7717442" y="8195070"/>
            <a:ext cx="8172496" cy="2357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3400">
                <a:latin typeface="儷宋 Pro"/>
                <a:ea typeface="儷宋 Pro"/>
                <a:cs typeface="儷宋 Pro"/>
                <a:sym typeface="儷宋 Pro"/>
              </a:defRPr>
            </a:lvl1pPr>
          </a:lstStyle>
          <a:p>
            <a:r>
              <a:t>同时，大门上设有红色-锁定和蓝色-解锁的灯光，玩家可以借此提示回顾自己经过的路线，在序章中出现是在为后续的复杂关卡铺垫。</a:t>
            </a:r>
          </a:p>
        </p:txBody>
      </p:sp>
      <p:sp>
        <p:nvSpPr>
          <p:cNvPr id="209" name="门灯，奖励，宝箱，拾取物"/>
          <p:cNvSpPr txBox="1"/>
          <p:nvPr/>
        </p:nvSpPr>
        <p:spPr>
          <a:xfrm>
            <a:off x="1192477" y="6950736"/>
            <a:ext cx="8172496" cy="71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3400">
                <a:latin typeface="PingFang TC Semibold"/>
                <a:ea typeface="PingFang TC Semibold"/>
                <a:cs typeface="PingFang TC Semibold"/>
                <a:sym typeface="PingFang TC Semibold"/>
              </a:defRPr>
            </a:lvl1pPr>
          </a:lstStyle>
          <a:p>
            <a:r>
              <a:t>门灯，奖励，宝箱，拾取物</a:t>
            </a:r>
          </a:p>
        </p:txBody>
      </p:sp>
      <p:sp>
        <p:nvSpPr>
          <p:cNvPr id="210" name="本章节中的初始拾取物并不多，但多为隐藏点，让玩家意识到地图中并非只有光源处值得探索，黑暗的角落也可能隐藏了秘密，与陷阱下的宝箱一同，给玩家在后续经过峡谷时故意跌落谷底探索，以发现隐藏的巨大非主线区域「裂谷底部」提供合理的行为动机。"/>
          <p:cNvSpPr txBox="1"/>
          <p:nvPr/>
        </p:nvSpPr>
        <p:spPr>
          <a:xfrm>
            <a:off x="17190191" y="8154498"/>
            <a:ext cx="7093895" cy="4213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3400">
                <a:latin typeface="儷宋 Pro"/>
                <a:ea typeface="儷宋 Pro"/>
                <a:cs typeface="儷宋 Pro"/>
                <a:sym typeface="儷宋 Pro"/>
              </a:defRPr>
            </a:lvl1pPr>
          </a:lstStyle>
          <a:p>
            <a:r>
              <a:t>本章节中的初始拾取物并不多，但多为隐藏点，让玩家意识到地图中并非只有光源处值得探索，黑暗的角落也可能隐藏了秘密，与陷阱下的宝箱一同，给玩家在后续经过峡谷时故意跌落谷底探索，以发现隐藏的巨大非主线区域「裂谷底部」提供合理的行为动机。</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路线控制-光影，敌人，动力"/>
          <p:cNvSpPr txBox="1">
            <a:spLocks noGrp="1"/>
          </p:cNvSpPr>
          <p:nvPr>
            <p:ph type="body" sz="quarter" idx="1"/>
          </p:nvPr>
        </p:nvSpPr>
        <p:spPr>
          <a:xfrm>
            <a:off x="371741" y="5063857"/>
            <a:ext cx="21971002" cy="1905002"/>
          </a:xfrm>
          <a:prstGeom prst="rect">
            <a:avLst/>
          </a:prstGeom>
        </p:spPr>
        <p:txBody>
          <a:bodyPr lIns="50800" tIns="50800" rIns="50800" bIns="50800"/>
          <a:lstStyle>
            <a:lvl1pPr defTabSz="825500">
              <a:defRPr sz="5500"/>
            </a:lvl1pPr>
          </a:lstStyle>
          <a:p>
            <a:r>
              <a:t>路线控制-光影，敌人，动力</a:t>
            </a:r>
          </a:p>
        </p:txBody>
      </p:sp>
      <p:pic>
        <p:nvPicPr>
          <p:cNvPr id="213" name="已粘贴的影片.png" descr="已粘贴的影片.png"/>
          <p:cNvPicPr>
            <a:picLocks noChangeAspect="1"/>
          </p:cNvPicPr>
          <p:nvPr/>
        </p:nvPicPr>
        <p:blipFill>
          <a:blip r:embed="rId2"/>
          <a:stretch>
            <a:fillRect/>
          </a:stretch>
        </p:blipFill>
        <p:spPr>
          <a:xfrm>
            <a:off x="9606402" y="190142"/>
            <a:ext cx="6960876" cy="5800729"/>
          </a:xfrm>
          <a:prstGeom prst="rect">
            <a:avLst/>
          </a:prstGeom>
          <a:ln w="12700">
            <a:miter lim="400000"/>
          </a:ln>
        </p:spPr>
      </p:pic>
      <p:pic>
        <p:nvPicPr>
          <p:cNvPr id="214" name="已粘贴的影片.png" descr="已粘贴的影片.png"/>
          <p:cNvPicPr>
            <a:picLocks noChangeAspect="1"/>
          </p:cNvPicPr>
          <p:nvPr/>
        </p:nvPicPr>
        <p:blipFill>
          <a:blip r:embed="rId3"/>
          <a:stretch>
            <a:fillRect/>
          </a:stretch>
        </p:blipFill>
        <p:spPr>
          <a:xfrm>
            <a:off x="9606402" y="7081256"/>
            <a:ext cx="6960876" cy="6190615"/>
          </a:xfrm>
          <a:prstGeom prst="rect">
            <a:avLst/>
          </a:prstGeom>
          <a:ln w="12700">
            <a:miter lim="400000"/>
          </a:ln>
        </p:spPr>
      </p:pic>
      <p:sp>
        <p:nvSpPr>
          <p:cNvPr id="215" name="强光指引 - 明亮，可通行的路。"/>
          <p:cNvSpPr txBox="1"/>
          <p:nvPr/>
        </p:nvSpPr>
        <p:spPr>
          <a:xfrm>
            <a:off x="8265990" y="6199513"/>
            <a:ext cx="8596460" cy="673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500">
                <a:latin typeface="儷宋 Pro"/>
                <a:ea typeface="儷宋 Pro"/>
                <a:cs typeface="儷宋 Pro"/>
                <a:sym typeface="儷宋 Pro"/>
              </a:defRPr>
            </a:lvl1pPr>
          </a:lstStyle>
          <a:p>
            <a:r>
              <a:t>强光指引 - 明亮，可通行的路。</a:t>
            </a:r>
          </a:p>
        </p:txBody>
      </p:sp>
      <p:pic>
        <p:nvPicPr>
          <p:cNvPr id="216" name="截屏2026-07-08 18.02.43.png" descr="截屏2026-07-08 18.02.43.png"/>
          <p:cNvPicPr>
            <a:picLocks noChangeAspect="1"/>
          </p:cNvPicPr>
          <p:nvPr/>
        </p:nvPicPr>
        <p:blipFill>
          <a:blip r:embed="rId4"/>
          <a:stretch>
            <a:fillRect/>
          </a:stretch>
        </p:blipFill>
        <p:spPr>
          <a:xfrm>
            <a:off x="16703011" y="190142"/>
            <a:ext cx="7557027" cy="5800729"/>
          </a:xfrm>
          <a:prstGeom prst="rect">
            <a:avLst/>
          </a:prstGeom>
          <a:ln w="12700">
            <a:miter lim="400000"/>
          </a:ln>
        </p:spPr>
      </p:pic>
      <p:sp>
        <p:nvSpPr>
          <p:cNvPr id="217" name="本关通过垂直高度、颜色变化，提示玩家的位置正从核心向外移动，从幽暗的灯光逐渐转为明亮的日光，敌人头上的灯光提示因此逐渐减弱，玩家需要开始小心探索，以防被位置不明显的敌人偷袭，但大量可拾取的物品和宝箱又吸引玩家找遍每一个角落。"/>
          <p:cNvSpPr txBox="1"/>
          <p:nvPr/>
        </p:nvSpPr>
        <p:spPr>
          <a:xfrm>
            <a:off x="16914952" y="6908218"/>
            <a:ext cx="7133147" cy="65366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500">
                <a:latin typeface="儷宋 Pro"/>
                <a:ea typeface="儷宋 Pro"/>
                <a:cs typeface="儷宋 Pro"/>
                <a:sym typeface="儷宋 Pro"/>
              </a:defRPr>
            </a:lvl1pPr>
          </a:lstStyle>
          <a:p>
            <a:r>
              <a:t>本关通过垂直高度、颜色变化，提示玩家的位置正从核心向外移动，从幽暗的灯光逐渐转为明亮的日光，敌人头上的灯光提示因此逐渐减弱，玩家需要开始小心探索，以防被位置不明显的敌人偷袭，但大量可拾取的物品和宝箱又吸引玩家找遍每一个角落。</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开放、空荡的不安感"/>
          <p:cNvSpPr txBox="1">
            <a:spLocks noGrp="1"/>
          </p:cNvSpPr>
          <p:nvPr>
            <p:ph type="body" sz="quarter" idx="1"/>
          </p:nvPr>
        </p:nvSpPr>
        <p:spPr>
          <a:xfrm>
            <a:off x="622408" y="6420873"/>
            <a:ext cx="6592325" cy="1112481"/>
          </a:xfrm>
          <a:prstGeom prst="rect">
            <a:avLst/>
          </a:prstGeom>
        </p:spPr>
        <p:txBody>
          <a:bodyPr lIns="50800" tIns="50800" rIns="50800" bIns="50800"/>
          <a:lstStyle>
            <a:lvl1pPr defTabSz="825500">
              <a:defRPr sz="5500"/>
            </a:lvl1pPr>
          </a:lstStyle>
          <a:p>
            <a:r>
              <a:t>开放、空荡的不安感</a:t>
            </a:r>
          </a:p>
        </p:txBody>
      </p:sp>
      <p:pic>
        <p:nvPicPr>
          <p:cNvPr id="220" name="已粘贴的影片.png" descr="已粘贴的影片.png"/>
          <p:cNvPicPr>
            <a:picLocks noChangeAspect="1"/>
          </p:cNvPicPr>
          <p:nvPr/>
        </p:nvPicPr>
        <p:blipFill>
          <a:blip r:embed="rId2"/>
          <a:stretch>
            <a:fillRect/>
          </a:stretch>
        </p:blipFill>
        <p:spPr>
          <a:xfrm>
            <a:off x="16281883" y="381283"/>
            <a:ext cx="7762762" cy="6698512"/>
          </a:xfrm>
          <a:prstGeom prst="rect">
            <a:avLst/>
          </a:prstGeom>
          <a:ln w="12700">
            <a:miter lim="400000"/>
          </a:ln>
        </p:spPr>
      </p:pic>
      <p:pic>
        <p:nvPicPr>
          <p:cNvPr id="221" name="已粘贴的影片.png" descr="已粘贴的影片.png"/>
          <p:cNvPicPr>
            <a:picLocks noChangeAspect="1"/>
          </p:cNvPicPr>
          <p:nvPr/>
        </p:nvPicPr>
        <p:blipFill>
          <a:blip r:embed="rId3"/>
          <a:stretch>
            <a:fillRect/>
          </a:stretch>
        </p:blipFill>
        <p:spPr>
          <a:xfrm>
            <a:off x="16281883" y="7160155"/>
            <a:ext cx="7762762" cy="6198625"/>
          </a:xfrm>
          <a:prstGeom prst="rect">
            <a:avLst/>
          </a:prstGeom>
          <a:ln w="12700">
            <a:miter lim="400000"/>
          </a:ln>
        </p:spPr>
      </p:pic>
      <p:sp>
        <p:nvSpPr>
          <p:cNvPr id="222" name="Boss前的「提示」"/>
          <p:cNvSpPr txBox="1"/>
          <p:nvPr/>
        </p:nvSpPr>
        <p:spPr>
          <a:xfrm>
            <a:off x="1039164" y="7320054"/>
            <a:ext cx="6314284" cy="673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500">
                <a:latin typeface="儷宋 Pro"/>
                <a:ea typeface="儷宋 Pro"/>
                <a:cs typeface="儷宋 Pro"/>
                <a:sym typeface="儷宋 Pro"/>
              </a:defRPr>
            </a:lvl1pPr>
          </a:lstStyle>
          <a:p>
            <a:r>
              <a:t>Boss前的「提示」</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总结"/>
          <p:cNvSpPr txBox="1">
            <a:spLocks noGrp="1"/>
          </p:cNvSpPr>
          <p:nvPr>
            <p:ph type="body" sz="quarter" idx="1"/>
          </p:nvPr>
        </p:nvSpPr>
        <p:spPr>
          <a:xfrm>
            <a:off x="254874" y="7538473"/>
            <a:ext cx="21971002" cy="1905002"/>
          </a:xfrm>
          <a:prstGeom prst="rect">
            <a:avLst/>
          </a:prstGeom>
        </p:spPr>
        <p:txBody>
          <a:bodyPr lIns="50800" tIns="50800" rIns="50800" bIns="50800"/>
          <a:lstStyle>
            <a:lvl1pPr defTabSz="825500">
              <a:defRPr sz="5500"/>
            </a:lvl1pPr>
          </a:lstStyle>
          <a:p>
            <a:r>
              <a:t>总结 </a:t>
            </a:r>
          </a:p>
        </p:txBody>
      </p:sp>
      <p:graphicFrame>
        <p:nvGraphicFramePr>
          <p:cNvPr id="225" name="二维折线图"/>
          <p:cNvGraphicFramePr/>
          <p:nvPr/>
        </p:nvGraphicFramePr>
        <p:xfrm>
          <a:off x="12036653" y="-173604"/>
          <a:ext cx="11657361" cy="4859672"/>
        </p:xfrm>
        <a:graphic>
          <a:graphicData uri="http://schemas.openxmlformats.org/drawingml/2006/chart">
            <c:chart xmlns:c="http://schemas.openxmlformats.org/drawingml/2006/chart" xmlns:r="http://schemas.openxmlformats.org/officeDocument/2006/relationships" r:id="rId2"/>
          </a:graphicData>
        </a:graphic>
      </p:graphicFrame>
      <p:sp>
        <p:nvSpPr>
          <p:cNvPr id="226" name="叙事上，本关作为游戏的序章，通过从深处向外探索的路线让玩家隐约意识到故事的蹊跷，线路中多次经过工厂中深不见底的机械生产线(此处在红色调的工厂中通过突然转换为蓝色调来强化玩家在此处的记忆)，玩家会多次看到形似敌人的机器被源源不断地运输上来，但对于下方的情况一直没有被提及，玩家对这个初始区域的好奇随着剧情推进进一步加强，直到最终海里升起的巨型敌人将主角击败，任务结束，而玩家又无法提前进入下方区域，工厂的探索也不了了之，从此奠定怀疑的基调。"/>
          <p:cNvSpPr txBox="1"/>
          <p:nvPr/>
        </p:nvSpPr>
        <p:spPr>
          <a:xfrm>
            <a:off x="11938427" y="6123603"/>
            <a:ext cx="12247934" cy="69202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200">
                <a:latin typeface="儷宋 Pro"/>
                <a:ea typeface="儷宋 Pro"/>
                <a:cs typeface="儷宋 Pro"/>
                <a:sym typeface="儷宋 Pro"/>
              </a:defRPr>
            </a:lvl1pPr>
          </a:lstStyle>
          <a:p>
            <a:r>
              <a:t>叙事上，本关作为游戏的序章，通过从深处向外探索的路线让玩家隐约意识到故事的蹊跷，线路中多次经过工厂中深不见底的机械生产线(此处在红色调的工厂中通过突然转换为蓝色调来强化玩家在此处的记忆)，玩家会多次看到形似敌人的机器被源源不断地运输上来，但对于下方的情况一直没有被提及，玩家对这个初始区域的好奇随着剧情推进进一步加强，直到最终海里升起的巨型敌人将主角击败，任务结束，而玩家又无法提前进入下方区域，工厂的探索也不了了之，从此奠定怀疑的基调。</a:t>
            </a:r>
          </a:p>
        </p:txBody>
      </p:sp>
      <p:sp>
        <p:nvSpPr>
          <p:cNvPr id="227" name="玩家进入游戏后的新手教程，全程通过POD的语音和投影为玩家发布任务和教学操作，藏在了游戏内的现实中"/>
          <p:cNvSpPr txBox="1"/>
          <p:nvPr/>
        </p:nvSpPr>
        <p:spPr>
          <a:xfrm>
            <a:off x="285193" y="8383089"/>
            <a:ext cx="10295149" cy="45021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a:defRPr sz="4500">
                <a:latin typeface="儷宋 Pro"/>
                <a:ea typeface="儷宋 Pro"/>
                <a:cs typeface="儷宋 Pro"/>
                <a:sym typeface="儷宋 Pro"/>
              </a:defRPr>
            </a:lvl1pPr>
          </a:lstStyle>
          <a:p>
            <a:r>
              <a:t>工厂废墟(上层)使用光效引导行动、暗示剧情，使用色调和可望不可及的环境叙事来为故事增加神秘感。巧妙地使用特殊地图、HUD设定、敌人设定来引导玩家学习和制造线性难度。这些HUD是可编辑的，进一步增加了设定的可信度。</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关卡要素.pdf" descr="关卡要素.pdf"/>
          <p:cNvPicPr>
            <a:picLocks noChangeAspect="1"/>
          </p:cNvPicPr>
          <p:nvPr/>
        </p:nvPicPr>
        <p:blipFill>
          <a:blip r:embed="rId2"/>
          <a:srcRect l="16020" t="1246" b="8014"/>
          <a:stretch>
            <a:fillRect/>
          </a:stretch>
        </p:blipFill>
        <p:spPr>
          <a:xfrm>
            <a:off x="5649415" y="-54174"/>
            <a:ext cx="12352601" cy="13824363"/>
          </a:xfrm>
          <a:prstGeom prst="rect">
            <a:avLst/>
          </a:prstGeom>
          <a:ln w="12700">
            <a:miter lim="400000"/>
          </a:ln>
        </p:spPr>
      </p:pic>
      <p:sp>
        <p:nvSpPr>
          <p:cNvPr id="230" name="关卡要素理解"/>
          <p:cNvSpPr txBox="1">
            <a:spLocks noGrp="1"/>
          </p:cNvSpPr>
          <p:nvPr>
            <p:ph type="body" sz="quarter" idx="1"/>
          </p:nvPr>
        </p:nvSpPr>
        <p:spPr>
          <a:xfrm>
            <a:off x="2707362" y="7142168"/>
            <a:ext cx="21971004" cy="636980"/>
          </a:xfrm>
          <a:prstGeom prst="rect">
            <a:avLst/>
          </a:prstGeom>
        </p:spPr>
        <p:txBody>
          <a:bodyPr/>
          <a:lstStyle/>
          <a:p>
            <a:r>
              <a:t>关卡要素理解</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612</Words>
  <Application>Microsoft Office PowerPoint</Application>
  <PresentationFormat>自定义</PresentationFormat>
  <Paragraphs>67</Paragraphs>
  <Slides>12</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Helvetica Neue</vt:lpstr>
      <vt:lpstr>Helvetica Neue Medium</vt:lpstr>
      <vt:lpstr>21_BasicWhite</vt:lpstr>
      <vt:lpstr>NieR:Automata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isaacxia</dc:creator>
  <cp:lastModifiedBy>Isaac Hsia</cp:lastModifiedBy>
  <cp:revision>1</cp:revision>
  <dcterms:modified xsi:type="dcterms:W3CDTF">2026-07-11T16:17:42Z</dcterms:modified>
</cp:coreProperties>
</file>