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848F0B-88F4-459F-A108-7B73E45901F4}" v="68" dt="2026-06-21T05:27:48.3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1" d="100"/>
          <a:sy n="151" d="100"/>
        </p:scale>
        <p:origin x="654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ac Hsia" userId="f4b1939e074e8321" providerId="LiveId" clId="{CE8C453B-71F1-4962-A03C-6A47BF41780F}"/>
    <pc:docChg chg="undo redo custSel addSld delSld modSld">
      <pc:chgData name="Isaac Hsia" userId="f4b1939e074e8321" providerId="LiveId" clId="{CE8C453B-71F1-4962-A03C-6A47BF41780F}" dt="2026-06-21T05:33:53.166" v="322" actId="729"/>
      <pc:docMkLst>
        <pc:docMk/>
      </pc:docMkLst>
      <pc:sldChg chg="modSp mod">
        <pc:chgData name="Isaac Hsia" userId="f4b1939e074e8321" providerId="LiveId" clId="{CE8C453B-71F1-4962-A03C-6A47BF41780F}" dt="2026-06-20T16:13:25.898" v="205" actId="1076"/>
        <pc:sldMkLst>
          <pc:docMk/>
          <pc:sldMk cId="0" sldId="257"/>
        </pc:sldMkLst>
        <pc:spChg chg="mod">
          <ac:chgData name="Isaac Hsia" userId="f4b1939e074e8321" providerId="LiveId" clId="{CE8C453B-71F1-4962-A03C-6A47BF41780F}" dt="2026-06-20T15:53:05.319" v="45"/>
          <ac:spMkLst>
            <pc:docMk/>
            <pc:sldMk cId="0" sldId="257"/>
            <ac:spMk id="9" creationId="{00000000-0000-0000-0000-000000000000}"/>
          </ac:spMkLst>
        </pc:spChg>
        <pc:spChg chg="mod">
          <ac:chgData name="Isaac Hsia" userId="f4b1939e074e8321" providerId="LiveId" clId="{CE8C453B-71F1-4962-A03C-6A47BF41780F}" dt="2026-06-20T15:52:03.333" v="20" actId="107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Isaac Hsia" userId="f4b1939e074e8321" providerId="LiveId" clId="{CE8C453B-71F1-4962-A03C-6A47BF41780F}" dt="2026-06-20T15:53:17.402" v="54"/>
          <ac:spMkLst>
            <pc:docMk/>
            <pc:sldMk cId="0" sldId="257"/>
            <ac:spMk id="14" creationId="{00000000-0000-0000-0000-000000000000}"/>
          </ac:spMkLst>
        </pc:spChg>
        <pc:spChg chg="mod">
          <ac:chgData name="Isaac Hsia" userId="f4b1939e074e8321" providerId="LiveId" clId="{CE8C453B-71F1-4962-A03C-6A47BF41780F}" dt="2026-06-20T15:53:41.857" v="69" actId="2057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Isaac Hsia" userId="f4b1939e074e8321" providerId="LiveId" clId="{CE8C453B-71F1-4962-A03C-6A47BF41780F}" dt="2026-06-20T16:10:55.076" v="91"/>
          <ac:spMkLst>
            <pc:docMk/>
            <pc:sldMk cId="0" sldId="257"/>
            <ac:spMk id="19" creationId="{00000000-0000-0000-0000-000000000000}"/>
          </ac:spMkLst>
        </pc:spChg>
        <pc:spChg chg="mod">
          <ac:chgData name="Isaac Hsia" userId="f4b1939e074e8321" providerId="LiveId" clId="{CE8C453B-71F1-4962-A03C-6A47BF41780F}" dt="2026-06-20T15:58:45.257" v="76" actId="107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Isaac Hsia" userId="f4b1939e074e8321" providerId="LiveId" clId="{CE8C453B-71F1-4962-A03C-6A47BF41780F}" dt="2026-06-20T16:11:31.874" v="118" actId="20577"/>
          <ac:spMkLst>
            <pc:docMk/>
            <pc:sldMk cId="0" sldId="257"/>
            <ac:spMk id="24" creationId="{00000000-0000-0000-0000-000000000000}"/>
          </ac:spMkLst>
        </pc:spChg>
        <pc:spChg chg="mod">
          <ac:chgData name="Isaac Hsia" userId="f4b1939e074e8321" providerId="LiveId" clId="{CE8C453B-71F1-4962-A03C-6A47BF41780F}" dt="2026-06-20T16:11:18.091" v="103" actId="20577"/>
          <ac:spMkLst>
            <pc:docMk/>
            <pc:sldMk cId="0" sldId="257"/>
            <ac:spMk id="25" creationId="{00000000-0000-0000-0000-000000000000}"/>
          </ac:spMkLst>
        </pc:spChg>
        <pc:spChg chg="mod">
          <ac:chgData name="Isaac Hsia" userId="f4b1939e074e8321" providerId="LiveId" clId="{CE8C453B-71F1-4962-A03C-6A47BF41780F}" dt="2026-06-20T16:11:43.206" v="125"/>
          <ac:spMkLst>
            <pc:docMk/>
            <pc:sldMk cId="0" sldId="257"/>
            <ac:spMk id="29" creationId="{00000000-0000-0000-0000-000000000000}"/>
          </ac:spMkLst>
        </pc:spChg>
        <pc:spChg chg="mod">
          <ac:chgData name="Isaac Hsia" userId="f4b1939e074e8321" providerId="LiveId" clId="{CE8C453B-71F1-4962-A03C-6A47BF41780F}" dt="2026-06-20T16:11:59.755" v="139" actId="20577"/>
          <ac:spMkLst>
            <pc:docMk/>
            <pc:sldMk cId="0" sldId="257"/>
            <ac:spMk id="30" creationId="{00000000-0000-0000-0000-000000000000}"/>
          </ac:spMkLst>
        </pc:spChg>
        <pc:spChg chg="mod">
          <ac:chgData name="Isaac Hsia" userId="f4b1939e074e8321" providerId="LiveId" clId="{CE8C453B-71F1-4962-A03C-6A47BF41780F}" dt="2026-06-20T16:12:39.317" v="172"/>
          <ac:spMkLst>
            <pc:docMk/>
            <pc:sldMk cId="0" sldId="257"/>
            <ac:spMk id="34" creationId="{00000000-0000-0000-0000-000000000000}"/>
          </ac:spMkLst>
        </pc:spChg>
        <pc:spChg chg="mod">
          <ac:chgData name="Isaac Hsia" userId="f4b1939e074e8321" providerId="LiveId" clId="{CE8C453B-71F1-4962-A03C-6A47BF41780F}" dt="2026-06-20T16:12:47.514" v="176"/>
          <ac:spMkLst>
            <pc:docMk/>
            <pc:sldMk cId="0" sldId="257"/>
            <ac:spMk id="35" creationId="{00000000-0000-0000-0000-000000000000}"/>
          </ac:spMkLst>
        </pc:spChg>
        <pc:spChg chg="mod">
          <ac:chgData name="Isaac Hsia" userId="f4b1939e074e8321" providerId="LiveId" clId="{CE8C453B-71F1-4962-A03C-6A47BF41780F}" dt="2026-06-20T16:13:21.032" v="201"/>
          <ac:spMkLst>
            <pc:docMk/>
            <pc:sldMk cId="0" sldId="257"/>
            <ac:spMk id="39" creationId="{00000000-0000-0000-0000-000000000000}"/>
          </ac:spMkLst>
        </pc:spChg>
        <pc:spChg chg="mod">
          <ac:chgData name="Isaac Hsia" userId="f4b1939e074e8321" providerId="LiveId" clId="{CE8C453B-71F1-4962-A03C-6A47BF41780F}" dt="2026-06-20T16:13:25.898" v="205" actId="1076"/>
          <ac:spMkLst>
            <pc:docMk/>
            <pc:sldMk cId="0" sldId="257"/>
            <ac:spMk id="40" creationId="{00000000-0000-0000-0000-000000000000}"/>
          </ac:spMkLst>
        </pc:spChg>
      </pc:sldChg>
      <pc:sldChg chg="addSp delSp modSp mod">
        <pc:chgData name="Isaac Hsia" userId="f4b1939e074e8321" providerId="LiveId" clId="{CE8C453B-71F1-4962-A03C-6A47BF41780F}" dt="2026-06-21T05:15:00.350" v="230" actId="14100"/>
        <pc:sldMkLst>
          <pc:docMk/>
          <pc:sldMk cId="0" sldId="258"/>
        </pc:sldMkLst>
        <pc:spChg chg="mod">
          <ac:chgData name="Isaac Hsia" userId="f4b1939e074e8321" providerId="LiveId" clId="{CE8C453B-71F1-4962-A03C-6A47BF41780F}" dt="2026-06-21T05:13:33.854" v="223"/>
          <ac:spMkLst>
            <pc:docMk/>
            <pc:sldMk cId="0" sldId="258"/>
            <ac:spMk id="10" creationId="{00000000-0000-0000-0000-000000000000}"/>
          </ac:spMkLst>
        </pc:spChg>
        <pc:spChg chg="del mod">
          <ac:chgData name="Isaac Hsia" userId="f4b1939e074e8321" providerId="LiveId" clId="{CE8C453B-71F1-4962-A03C-6A47BF41780F}" dt="2026-06-20T16:19:34.313" v="212"/>
          <ac:spMkLst>
            <pc:docMk/>
            <pc:sldMk cId="0" sldId="258"/>
            <ac:spMk id="20" creationId="{00000000-0000-0000-0000-000000000000}"/>
          </ac:spMkLst>
        </pc:spChg>
        <pc:spChg chg="del mod">
          <ac:chgData name="Isaac Hsia" userId="f4b1939e074e8321" providerId="LiveId" clId="{CE8C453B-71F1-4962-A03C-6A47BF41780F}" dt="2026-06-20T16:19:34.311" v="210" actId="478"/>
          <ac:spMkLst>
            <pc:docMk/>
            <pc:sldMk cId="0" sldId="258"/>
            <ac:spMk id="21" creationId="{00000000-0000-0000-0000-000000000000}"/>
          </ac:spMkLst>
        </pc:spChg>
        <pc:spChg chg="mod">
          <ac:chgData name="Isaac Hsia" userId="f4b1939e074e8321" providerId="LiveId" clId="{CE8C453B-71F1-4962-A03C-6A47BF41780F}" dt="2026-06-20T16:19:37.784" v="213" actId="107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Isaac Hsia" userId="f4b1939e074e8321" providerId="LiveId" clId="{CE8C453B-71F1-4962-A03C-6A47BF41780F}" dt="2026-06-20T16:19:40.335" v="214" actId="1076"/>
          <ac:spMkLst>
            <pc:docMk/>
            <pc:sldMk cId="0" sldId="258"/>
            <ac:spMk id="23" creationId="{00000000-0000-0000-0000-000000000000}"/>
          </ac:spMkLst>
        </pc:spChg>
        <pc:spChg chg="mod">
          <ac:chgData name="Isaac Hsia" userId="f4b1939e074e8321" providerId="LiveId" clId="{CE8C453B-71F1-4962-A03C-6A47BF41780F}" dt="2026-06-20T16:19:44.437" v="215" actId="107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Isaac Hsia" userId="f4b1939e074e8321" providerId="LiveId" clId="{CE8C453B-71F1-4962-A03C-6A47BF41780F}" dt="2026-06-21T05:14:06.793" v="224" actId="1076"/>
          <ac:spMkLst>
            <pc:docMk/>
            <pc:sldMk cId="0" sldId="258"/>
            <ac:spMk id="25" creationId="{00000000-0000-0000-0000-000000000000}"/>
          </ac:spMkLst>
        </pc:spChg>
        <pc:spChg chg="mod">
          <ac:chgData name="Isaac Hsia" userId="f4b1939e074e8321" providerId="LiveId" clId="{CE8C453B-71F1-4962-A03C-6A47BF41780F}" dt="2026-06-21T05:14:09.276" v="225" actId="1076"/>
          <ac:spMkLst>
            <pc:docMk/>
            <pc:sldMk cId="0" sldId="258"/>
            <ac:spMk id="26" creationId="{00000000-0000-0000-0000-000000000000}"/>
          </ac:spMkLst>
        </pc:spChg>
        <pc:picChg chg="add mod">
          <ac:chgData name="Isaac Hsia" userId="f4b1939e074e8321" providerId="LiveId" clId="{CE8C453B-71F1-4962-A03C-6A47BF41780F}" dt="2026-06-21T05:15:00.350" v="230" actId="14100"/>
          <ac:picMkLst>
            <pc:docMk/>
            <pc:sldMk cId="0" sldId="258"/>
            <ac:picMk id="30" creationId="{76548BAD-08FF-87A2-B6E9-215D57B9266B}"/>
          </ac:picMkLst>
        </pc:picChg>
      </pc:sldChg>
      <pc:sldChg chg="addSp delSp modSp mod">
        <pc:chgData name="Isaac Hsia" userId="f4b1939e074e8321" providerId="LiveId" clId="{CE8C453B-71F1-4962-A03C-6A47BF41780F}" dt="2026-06-21T05:19:31.621" v="249" actId="1076"/>
        <pc:sldMkLst>
          <pc:docMk/>
          <pc:sldMk cId="0" sldId="259"/>
        </pc:sldMkLst>
        <pc:spChg chg="mod">
          <ac:chgData name="Isaac Hsia" userId="f4b1939e074e8321" providerId="LiveId" clId="{CE8C453B-71F1-4962-A03C-6A47BF41780F}" dt="2026-06-21T05:15:33.045" v="239"/>
          <ac:spMkLst>
            <pc:docMk/>
            <pc:sldMk cId="0" sldId="259"/>
            <ac:spMk id="10" creationId="{00000000-0000-0000-0000-000000000000}"/>
          </ac:spMkLst>
        </pc:spChg>
        <pc:spChg chg="mod">
          <ac:chgData name="Isaac Hsia" userId="f4b1939e074e8321" providerId="LiveId" clId="{CE8C453B-71F1-4962-A03C-6A47BF41780F}" dt="2026-06-21T05:15:42.159" v="244" actId="20577"/>
          <ac:spMkLst>
            <pc:docMk/>
            <pc:sldMk cId="0" sldId="259"/>
            <ac:spMk id="11" creationId="{00000000-0000-0000-0000-000000000000}"/>
          </ac:spMkLst>
        </pc:spChg>
        <pc:spChg chg="del">
          <ac:chgData name="Isaac Hsia" userId="f4b1939e074e8321" providerId="LiveId" clId="{CE8C453B-71F1-4962-A03C-6A47BF41780F}" dt="2026-06-21T05:18:40.743" v="245" actId="478"/>
          <ac:spMkLst>
            <pc:docMk/>
            <pc:sldMk cId="0" sldId="259"/>
            <ac:spMk id="24" creationId="{00000000-0000-0000-0000-000000000000}"/>
          </ac:spMkLst>
        </pc:spChg>
        <pc:spChg chg="del">
          <ac:chgData name="Isaac Hsia" userId="f4b1939e074e8321" providerId="LiveId" clId="{CE8C453B-71F1-4962-A03C-6A47BF41780F}" dt="2026-06-21T05:18:42.556" v="246" actId="478"/>
          <ac:spMkLst>
            <pc:docMk/>
            <pc:sldMk cId="0" sldId="259"/>
            <ac:spMk id="25" creationId="{00000000-0000-0000-0000-000000000000}"/>
          </ac:spMkLst>
        </pc:spChg>
        <pc:picChg chg="add mod">
          <ac:chgData name="Isaac Hsia" userId="f4b1939e074e8321" providerId="LiveId" clId="{CE8C453B-71F1-4962-A03C-6A47BF41780F}" dt="2026-06-21T05:19:31.621" v="249" actId="1076"/>
          <ac:picMkLst>
            <pc:docMk/>
            <pc:sldMk cId="0" sldId="259"/>
            <ac:picMk id="29" creationId="{6D2C871C-932F-C228-8520-C4378B4E0807}"/>
          </ac:picMkLst>
        </pc:picChg>
      </pc:sldChg>
      <pc:sldChg chg="addSp modSp mod">
        <pc:chgData name="Isaac Hsia" userId="f4b1939e074e8321" providerId="LiveId" clId="{CE8C453B-71F1-4962-A03C-6A47BF41780F}" dt="2026-06-21T05:20:55.922" v="255" actId="1076"/>
        <pc:sldMkLst>
          <pc:docMk/>
          <pc:sldMk cId="0" sldId="260"/>
        </pc:sldMkLst>
        <pc:picChg chg="add mod">
          <ac:chgData name="Isaac Hsia" userId="f4b1939e074e8321" providerId="LiveId" clId="{CE8C453B-71F1-4962-A03C-6A47BF41780F}" dt="2026-06-21T05:20:55.922" v="255" actId="1076"/>
          <ac:picMkLst>
            <pc:docMk/>
            <pc:sldMk cId="0" sldId="260"/>
            <ac:picMk id="28" creationId="{4C2ABF41-8F37-66BC-36A2-3E22A5284688}"/>
          </ac:picMkLst>
        </pc:picChg>
      </pc:sldChg>
      <pc:sldChg chg="addSp delSp modSp mod">
        <pc:chgData name="Isaac Hsia" userId="f4b1939e074e8321" providerId="LiveId" clId="{CE8C453B-71F1-4962-A03C-6A47BF41780F}" dt="2026-06-21T05:23:58.376" v="265" actId="1076"/>
        <pc:sldMkLst>
          <pc:docMk/>
          <pc:sldMk cId="0" sldId="261"/>
        </pc:sldMkLst>
        <pc:spChg chg="del">
          <ac:chgData name="Isaac Hsia" userId="f4b1939e074e8321" providerId="LiveId" clId="{CE8C453B-71F1-4962-A03C-6A47BF41780F}" dt="2026-06-21T05:23:52.103" v="263" actId="478"/>
          <ac:spMkLst>
            <pc:docMk/>
            <pc:sldMk cId="0" sldId="261"/>
            <ac:spMk id="23" creationId="{00000000-0000-0000-0000-000000000000}"/>
          </ac:spMkLst>
        </pc:spChg>
        <pc:spChg chg="mod">
          <ac:chgData name="Isaac Hsia" userId="f4b1939e074e8321" providerId="LiveId" clId="{CE8C453B-71F1-4962-A03C-6A47BF41780F}" dt="2026-06-21T05:23:55.781" v="264" actId="1076"/>
          <ac:spMkLst>
            <pc:docMk/>
            <pc:sldMk cId="0" sldId="261"/>
            <ac:spMk id="24" creationId="{00000000-0000-0000-0000-000000000000}"/>
          </ac:spMkLst>
        </pc:spChg>
        <pc:spChg chg="del">
          <ac:chgData name="Isaac Hsia" userId="f4b1939e074e8321" providerId="LiveId" clId="{CE8C453B-71F1-4962-A03C-6A47BF41780F}" dt="2026-06-21T05:23:47.719" v="261" actId="478"/>
          <ac:spMkLst>
            <pc:docMk/>
            <pc:sldMk cId="0" sldId="261"/>
            <ac:spMk id="25" creationId="{00000000-0000-0000-0000-000000000000}"/>
          </ac:spMkLst>
        </pc:spChg>
        <pc:picChg chg="add mod">
          <ac:chgData name="Isaac Hsia" userId="f4b1939e074e8321" providerId="LiveId" clId="{CE8C453B-71F1-4962-A03C-6A47BF41780F}" dt="2026-06-21T05:23:58.376" v="265" actId="1076"/>
          <ac:picMkLst>
            <pc:docMk/>
            <pc:sldMk cId="0" sldId="261"/>
            <ac:picMk id="29" creationId="{5CE45540-8CBC-C67F-F141-F2483FF24168}"/>
          </ac:picMkLst>
        </pc:picChg>
      </pc:sldChg>
      <pc:sldChg chg="addSp delSp modSp mod">
        <pc:chgData name="Isaac Hsia" userId="f4b1939e074e8321" providerId="LiveId" clId="{CE8C453B-71F1-4962-A03C-6A47BF41780F}" dt="2026-06-21T05:25:16.088" v="290" actId="20577"/>
        <pc:sldMkLst>
          <pc:docMk/>
          <pc:sldMk cId="0" sldId="262"/>
        </pc:sldMkLst>
        <pc:spChg chg="mod">
          <ac:chgData name="Isaac Hsia" userId="f4b1939e074e8321" providerId="LiveId" clId="{CE8C453B-71F1-4962-A03C-6A47BF41780F}" dt="2026-06-21T05:25:16.088" v="290" actId="20577"/>
          <ac:spMkLst>
            <pc:docMk/>
            <pc:sldMk cId="0" sldId="262"/>
            <ac:spMk id="3" creationId="{00000000-0000-0000-0000-000000000000}"/>
          </ac:spMkLst>
        </pc:spChg>
        <pc:spChg chg="add del">
          <ac:chgData name="Isaac Hsia" userId="f4b1939e074e8321" providerId="LiveId" clId="{CE8C453B-71F1-4962-A03C-6A47BF41780F}" dt="2026-06-21T05:25:13.653" v="286" actId="478"/>
          <ac:spMkLst>
            <pc:docMk/>
            <pc:sldMk cId="0" sldId="262"/>
            <ac:spMk id="18" creationId="{00000000-0000-0000-0000-000000000000}"/>
          </ac:spMkLst>
        </pc:spChg>
        <pc:spChg chg="add del">
          <ac:chgData name="Isaac Hsia" userId="f4b1939e074e8321" providerId="LiveId" clId="{CE8C453B-71F1-4962-A03C-6A47BF41780F}" dt="2026-06-21T05:25:13.939" v="287" actId="478"/>
          <ac:spMkLst>
            <pc:docMk/>
            <pc:sldMk cId="0" sldId="262"/>
            <ac:spMk id="31" creationId="{00000000-0000-0000-0000-000000000000}"/>
          </ac:spMkLst>
        </pc:spChg>
      </pc:sldChg>
      <pc:sldChg chg="modSp mod modShow">
        <pc:chgData name="Isaac Hsia" userId="f4b1939e074e8321" providerId="LiveId" clId="{CE8C453B-71F1-4962-A03C-6A47BF41780F}" dt="2026-06-21T05:26:13.868" v="292" actId="729"/>
        <pc:sldMkLst>
          <pc:docMk/>
          <pc:sldMk cId="0" sldId="263"/>
        </pc:sldMkLst>
        <pc:spChg chg="mod">
          <ac:chgData name="Isaac Hsia" userId="f4b1939e074e8321" providerId="LiveId" clId="{CE8C453B-71F1-4962-A03C-6A47BF41780F}" dt="2026-06-21T05:25:57.407" v="291" actId="20577"/>
          <ac:spMkLst>
            <pc:docMk/>
            <pc:sldMk cId="0" sldId="263"/>
            <ac:spMk id="3" creationId="{00000000-0000-0000-0000-000000000000}"/>
          </ac:spMkLst>
        </pc:spChg>
      </pc:sldChg>
      <pc:sldChg chg="delSp modSp mod">
        <pc:chgData name="Isaac Hsia" userId="f4b1939e074e8321" providerId="LiveId" clId="{CE8C453B-71F1-4962-A03C-6A47BF41780F}" dt="2026-06-21T05:28:15.774" v="319" actId="478"/>
        <pc:sldMkLst>
          <pc:docMk/>
          <pc:sldMk cId="0" sldId="264"/>
        </pc:sldMkLst>
        <pc:spChg chg="mod">
          <ac:chgData name="Isaac Hsia" userId="f4b1939e074e8321" providerId="LiveId" clId="{CE8C453B-71F1-4962-A03C-6A47BF41780F}" dt="2026-06-21T05:27:06.621" v="296" actId="20577"/>
          <ac:spMkLst>
            <pc:docMk/>
            <pc:sldMk cId="0" sldId="264"/>
            <ac:spMk id="17" creationId="{00000000-0000-0000-0000-000000000000}"/>
          </ac:spMkLst>
        </pc:spChg>
        <pc:spChg chg="mod">
          <ac:chgData name="Isaac Hsia" userId="f4b1939e074e8321" providerId="LiveId" clId="{CE8C453B-71F1-4962-A03C-6A47BF41780F}" dt="2026-06-21T05:27:27.739" v="304" actId="20577"/>
          <ac:spMkLst>
            <pc:docMk/>
            <pc:sldMk cId="0" sldId="264"/>
            <ac:spMk id="22" creationId="{00000000-0000-0000-0000-000000000000}"/>
          </ac:spMkLst>
        </pc:spChg>
        <pc:spChg chg="mod">
          <ac:chgData name="Isaac Hsia" userId="f4b1939e074e8321" providerId="LiveId" clId="{CE8C453B-71F1-4962-A03C-6A47BF41780F}" dt="2026-06-21T05:27:42.128" v="306" actId="20577"/>
          <ac:spMkLst>
            <pc:docMk/>
            <pc:sldMk cId="0" sldId="264"/>
            <ac:spMk id="29" creationId="{00000000-0000-0000-0000-000000000000}"/>
          </ac:spMkLst>
        </pc:spChg>
        <pc:spChg chg="mod">
          <ac:chgData name="Isaac Hsia" userId="f4b1939e074e8321" providerId="LiveId" clId="{CE8C453B-71F1-4962-A03C-6A47BF41780F}" dt="2026-06-21T05:27:53.393" v="317" actId="20577"/>
          <ac:spMkLst>
            <pc:docMk/>
            <pc:sldMk cId="0" sldId="264"/>
            <ac:spMk id="30" creationId="{00000000-0000-0000-0000-000000000000}"/>
          </ac:spMkLst>
        </pc:spChg>
        <pc:spChg chg="mod">
          <ac:chgData name="Isaac Hsia" userId="f4b1939e074e8321" providerId="LiveId" clId="{CE8C453B-71F1-4962-A03C-6A47BF41780F}" dt="2026-06-21T05:27:59.390" v="318" actId="20577"/>
          <ac:spMkLst>
            <pc:docMk/>
            <pc:sldMk cId="0" sldId="264"/>
            <ac:spMk id="31" creationId="{00000000-0000-0000-0000-000000000000}"/>
          </ac:spMkLst>
        </pc:spChg>
        <pc:spChg chg="del">
          <ac:chgData name="Isaac Hsia" userId="f4b1939e074e8321" providerId="LiveId" clId="{CE8C453B-71F1-4962-A03C-6A47BF41780F}" dt="2026-06-21T05:28:15.774" v="319" actId="478"/>
          <ac:spMkLst>
            <pc:docMk/>
            <pc:sldMk cId="0" sldId="264"/>
            <ac:spMk id="45" creationId="{00000000-0000-0000-0000-000000000000}"/>
          </ac:spMkLst>
        </pc:spChg>
      </pc:sldChg>
      <pc:sldChg chg="modSp mod modShow">
        <pc:chgData name="Isaac Hsia" userId="f4b1939e074e8321" providerId="LiveId" clId="{CE8C453B-71F1-4962-A03C-6A47BF41780F}" dt="2026-06-21T05:33:53.166" v="322" actId="729"/>
        <pc:sldMkLst>
          <pc:docMk/>
          <pc:sldMk cId="0" sldId="265"/>
        </pc:sldMkLst>
        <pc:spChg chg="mod">
          <ac:chgData name="Isaac Hsia" userId="f4b1939e074e8321" providerId="LiveId" clId="{CE8C453B-71F1-4962-A03C-6A47BF41780F}" dt="2026-06-21T05:29:59.909" v="321" actId="14100"/>
          <ac:spMkLst>
            <pc:docMk/>
            <pc:sldMk cId="0" sldId="265"/>
            <ac:spMk id="26" creationId="{00000000-0000-0000-0000-000000000000}"/>
          </ac:spMkLst>
        </pc:spChg>
        <pc:spChg chg="mod">
          <ac:chgData name="Isaac Hsia" userId="f4b1939e074e8321" providerId="LiveId" clId="{CE8C453B-71F1-4962-A03C-6A47BF41780F}" dt="2026-06-21T05:29:56.864" v="320" actId="1076"/>
          <ac:spMkLst>
            <pc:docMk/>
            <pc:sldMk cId="0" sldId="265"/>
            <ac:spMk id="27" creationId="{00000000-0000-0000-0000-000000000000}"/>
          </ac:spMkLst>
        </pc:spChg>
      </pc:sldChg>
      <pc:sldChg chg="new del">
        <pc:chgData name="Isaac Hsia" userId="f4b1939e074e8321" providerId="LiveId" clId="{CE8C453B-71F1-4962-A03C-6A47BF41780F}" dt="2026-06-20T16:13:42.191" v="207" actId="680"/>
        <pc:sldMkLst>
          <pc:docMk/>
          <pc:sldMk cId="2502300650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1828800"/>
            <a:ext cx="2743200" cy="63500"/>
          </a:xfrm>
          <a:prstGeom prst="rect">
            <a:avLst/>
          </a:prstGeom>
          <a:solidFill>
            <a:srgbClr val="5B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938528"/>
            <a:ext cx="1371600" cy="38100"/>
          </a:xfrm>
          <a:prstGeom prst="rect">
            <a:avLst/>
          </a:prstGeom>
          <a:solidFill>
            <a:srgbClr val="40D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881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rPr dirty="0" err="1"/>
              <a:t>游戏策划岗位类型全景</a:t>
            </a:r>
            <a:endParaRPr dirty="0"/>
          </a:p>
          <a:p>
            <a:pPr>
              <a:defRPr sz="2000">
                <a:solidFill>
                  <a:srgbClr val="5B9BF5"/>
                </a:solidFill>
              </a:defRPr>
            </a:pPr>
            <a:r>
              <a:rPr dirty="0" err="1"/>
              <a:t>职责范围</a:t>
            </a:r>
            <a:r>
              <a:rPr dirty="0"/>
              <a:t> · </a:t>
            </a:r>
            <a:r>
              <a:rPr dirty="0" err="1"/>
              <a:t>任职要求</a:t>
            </a:r>
            <a:r>
              <a:rPr dirty="0"/>
              <a:t> · </a:t>
            </a:r>
            <a:r>
              <a:rPr dirty="0" err="1"/>
              <a:t>职业路径</a:t>
            </a:r>
            <a:r>
              <a:rPr dirty="0"/>
              <a:t> · 2025–2026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3192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590A5"/>
                </a:solidFill>
              </a:defRPr>
            </a:pPr>
            <a:r>
              <a:t>游戏策划培训 · 第1课 · 策划工种全景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521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8590A5"/>
                </a:solidFill>
              </a:defRPr>
            </a:pPr>
            <a:r>
              <a:t>数据来源：腾讯/网易/米哈游/莉莉丝/三七互娱/4399 等 2025–2026 校园招聘 JD、各厂官网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65760"/>
            <a:ext cx="10881360" cy="38100"/>
          </a:xfrm>
          <a:prstGeom prst="rect">
            <a:avLst/>
          </a:prstGeom>
          <a:solidFill>
            <a:srgbClr val="5B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七大策划岗位全景总览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590A5"/>
                </a:solidFill>
              </a:defRPr>
            </a:pPr>
            <a:r>
              <a:t>2025–2026 主流游戏公司招聘岗位类型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590A5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606040" cy="109728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8" y="1627632"/>
            <a:ext cx="2386584" cy="31750"/>
          </a:xfrm>
          <a:prstGeom prst="rect">
            <a:avLst/>
          </a:prstGeom>
          <a:solidFill>
            <a:srgbClr val="5B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2331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B9BF5"/>
                </a:solidFill>
              </a:defRPr>
            </a:pPr>
            <a:r>
              <a:t>① 系统策划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1274708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</a:defRPr>
            </a:pPr>
            <a:r>
              <a:rPr lang="zh-CN" altLang="en-US" dirty="0"/>
              <a:t>游戏的</a:t>
            </a:r>
            <a:r>
              <a:rPr lang="zh-CN" altLang="en-US" sz="850" dirty="0">
                <a:solidFill>
                  <a:srgbClr val="FFFFFF"/>
                </a:solidFill>
              </a:rPr>
              <a:t>基础与中枢设计</a:t>
            </a:r>
            <a:endParaRPr sz="850" dirty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198407"/>
            <a:ext cx="2331720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eriod"/>
              <a:defRPr sz="750">
                <a:solidFill>
                  <a:srgbClr val="8590A5"/>
                </a:solidFill>
              </a:defRPr>
            </a:pPr>
            <a:r>
              <a:rPr dirty="0" err="1"/>
              <a:t>玩法模块</a:t>
            </a:r>
            <a:endParaRPr lang="en-US" dirty="0"/>
          </a:p>
          <a:p>
            <a:pPr marL="228600" indent="-228600">
              <a:buAutoNum type="arabicPeriod"/>
              <a:defRPr sz="750">
                <a:solidFill>
                  <a:srgbClr val="8590A5"/>
                </a:solidFill>
              </a:defRPr>
            </a:pPr>
            <a:r>
              <a:rPr dirty="0" err="1"/>
              <a:t>UI交互</a:t>
            </a:r>
            <a:endParaRPr lang="en-US" dirty="0"/>
          </a:p>
          <a:p>
            <a:pPr marL="228600" indent="-228600">
              <a:buAutoNum type="arabicPeriod"/>
              <a:defRPr sz="750">
                <a:solidFill>
                  <a:srgbClr val="8590A5"/>
                </a:solidFill>
              </a:defRPr>
            </a:pPr>
            <a:r>
              <a:rPr dirty="0" err="1"/>
              <a:t>活动</a:t>
            </a:r>
            <a:r>
              <a:rPr lang="zh-CN" altLang="en-US" dirty="0"/>
              <a:t>设计</a:t>
            </a:r>
            <a:r>
              <a:rPr dirty="0" err="1"/>
              <a:t>是策划团队的中枢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3520440" y="1554480"/>
            <a:ext cx="2606040" cy="109728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30168" y="1627632"/>
            <a:ext cx="2386584" cy="31750"/>
          </a:xfrm>
          <a:prstGeom prst="rect">
            <a:avLst/>
          </a:prstGeom>
          <a:solidFill>
            <a:srgbClr val="40D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0" y="1691640"/>
            <a:ext cx="2331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0D9A0"/>
                </a:solidFill>
              </a:defRPr>
            </a:pPr>
            <a:r>
              <a:t>② 关卡策划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965960"/>
            <a:ext cx="947695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</a:defRPr>
            </a:pPr>
            <a:r>
              <a:rPr lang="zh-CN" altLang="en-US" dirty="0"/>
              <a:t>游戏的空间体验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3657600" y="2147950"/>
            <a:ext cx="2331720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eriod"/>
              <a:defRPr sz="750">
                <a:solidFill>
                  <a:srgbClr val="8590A5"/>
                </a:solidFill>
              </a:defRPr>
            </a:pPr>
            <a:r>
              <a:rPr dirty="0" err="1"/>
              <a:t>地形布局</a:t>
            </a:r>
            <a:endParaRPr lang="en-US" dirty="0"/>
          </a:p>
          <a:p>
            <a:pPr marL="228600" indent="-228600">
              <a:buAutoNum type="arabicPeriod"/>
              <a:defRPr sz="750">
                <a:solidFill>
                  <a:srgbClr val="8590A5"/>
                </a:solidFill>
              </a:defRPr>
            </a:pPr>
            <a:r>
              <a:rPr dirty="0" err="1"/>
              <a:t>敌人</a:t>
            </a:r>
            <a:r>
              <a:rPr lang="zh-CN" altLang="en-US" dirty="0"/>
              <a:t>设计</a:t>
            </a:r>
            <a:endParaRPr lang="en-US" dirty="0"/>
          </a:p>
          <a:p>
            <a:pPr marL="228600" indent="-228600">
              <a:buAutoNum type="arabicPeriod"/>
              <a:defRPr sz="750">
                <a:solidFill>
                  <a:srgbClr val="8590A5"/>
                </a:solidFill>
              </a:defRPr>
            </a:pPr>
            <a:r>
              <a:rPr lang="zh-CN" altLang="en-US" dirty="0"/>
              <a:t>关卡</a:t>
            </a:r>
            <a:r>
              <a:rPr dirty="0" err="1"/>
              <a:t>节奏控制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6400800" y="1554480"/>
            <a:ext cx="2606040" cy="109728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10528" y="1627632"/>
            <a:ext cx="2386584" cy="31750"/>
          </a:xfrm>
          <a:prstGeom prst="rect">
            <a:avLst/>
          </a:prstGeom>
          <a:solidFill>
            <a:srgbClr val="F5A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691640"/>
            <a:ext cx="2331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A650"/>
                </a:solidFill>
              </a:defRPr>
            </a:pPr>
            <a:r>
              <a:t>③ 数值策划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965960"/>
            <a:ext cx="1165704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</a:defRPr>
            </a:pPr>
            <a:r>
              <a:rPr lang="zh-CN" altLang="en-US" dirty="0"/>
              <a:t>潜移默化的数值体验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166711"/>
            <a:ext cx="23317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eriod"/>
              <a:defRPr sz="750">
                <a:solidFill>
                  <a:srgbClr val="8590A5"/>
                </a:solidFill>
              </a:defRPr>
            </a:pPr>
            <a:r>
              <a:rPr dirty="0" err="1"/>
              <a:t>战斗</a:t>
            </a:r>
            <a:r>
              <a:rPr dirty="0"/>
              <a:t>/</a:t>
            </a:r>
            <a:endParaRPr lang="en-US" dirty="0"/>
          </a:p>
          <a:p>
            <a:pPr marL="228600" indent="-228600">
              <a:buAutoNum type="arabicPeriod"/>
              <a:defRPr sz="750">
                <a:solidFill>
                  <a:srgbClr val="8590A5"/>
                </a:solidFill>
              </a:defRPr>
            </a:pPr>
            <a:r>
              <a:rPr dirty="0" err="1"/>
              <a:t>经济</a:t>
            </a:r>
            <a:r>
              <a:rPr dirty="0"/>
              <a:t>/</a:t>
            </a:r>
            <a:endParaRPr lang="en-US" dirty="0"/>
          </a:p>
          <a:p>
            <a:pPr marL="228600" indent="-228600">
              <a:buAutoNum type="arabicPeriod"/>
              <a:defRPr sz="750">
                <a:solidFill>
                  <a:srgbClr val="8590A5"/>
                </a:solidFill>
              </a:defRPr>
            </a:pPr>
            <a:r>
              <a:rPr dirty="0" err="1"/>
              <a:t>成长数值模型搭建与平衡，为体验注入数字灵魂</a:t>
            </a:r>
            <a:endParaRPr dirty="0"/>
          </a:p>
        </p:txBody>
      </p:sp>
      <p:sp>
        <p:nvSpPr>
          <p:cNvPr id="21" name="Rounded Rectangle 20"/>
          <p:cNvSpPr/>
          <p:nvPr/>
        </p:nvSpPr>
        <p:spPr>
          <a:xfrm>
            <a:off x="9281160" y="1554480"/>
            <a:ext cx="2606040" cy="109728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390888" y="1627632"/>
            <a:ext cx="2386584" cy="31750"/>
          </a:xfrm>
          <a:prstGeom prst="rect">
            <a:avLst/>
          </a:prstGeom>
          <a:solidFill>
            <a:srgbClr val="E86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18320" y="1691640"/>
            <a:ext cx="2331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606E"/>
                </a:solidFill>
              </a:defRPr>
            </a:pPr>
            <a:r>
              <a:t>④ 战斗策划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1965960"/>
            <a:ext cx="1056700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</a:defRPr>
            </a:pPr>
            <a:r>
              <a:rPr lang="zh-CN" altLang="en-US" dirty="0"/>
              <a:t>保障玩家战斗体验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9390888" y="2160397"/>
            <a:ext cx="23317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eriod"/>
              <a:defRPr sz="750">
                <a:solidFill>
                  <a:srgbClr val="8590A5"/>
                </a:solidFill>
              </a:defRPr>
            </a:pPr>
            <a:r>
              <a:rPr dirty="0" err="1"/>
              <a:t>角色技能</a:t>
            </a:r>
            <a:endParaRPr lang="en-US" dirty="0"/>
          </a:p>
          <a:p>
            <a:pPr marL="228600" indent="-228600">
              <a:buAutoNum type="arabicPeriod"/>
              <a:defRPr sz="750">
                <a:solidFill>
                  <a:srgbClr val="8590A5"/>
                </a:solidFill>
              </a:defRPr>
            </a:pPr>
            <a:r>
              <a:rPr dirty="0" err="1"/>
              <a:t>怪物AI</a:t>
            </a:r>
            <a:endParaRPr lang="en-US" dirty="0"/>
          </a:p>
          <a:p>
            <a:pPr marL="228600" indent="-228600">
              <a:buAutoNum type="arabicPeriod"/>
              <a:defRPr sz="750">
                <a:solidFill>
                  <a:srgbClr val="8590A5"/>
                </a:solidFill>
              </a:defRPr>
            </a:pPr>
            <a:r>
              <a:rPr dirty="0" err="1"/>
              <a:t>操作手感</a:t>
            </a:r>
            <a:endParaRPr lang="en-US" dirty="0"/>
          </a:p>
          <a:p>
            <a:pPr marL="228600" indent="-228600">
              <a:buAutoNum type="arabicPeriod"/>
              <a:defRPr sz="750">
                <a:solidFill>
                  <a:srgbClr val="8590A5"/>
                </a:solidFill>
              </a:defRPr>
            </a:pPr>
            <a:r>
              <a:rPr dirty="0" err="1"/>
              <a:t>打击反馈</a:t>
            </a:r>
            <a:endParaRPr dirty="0"/>
          </a:p>
        </p:txBody>
      </p:sp>
      <p:sp>
        <p:nvSpPr>
          <p:cNvPr id="26" name="Rounded Rectangle 25"/>
          <p:cNvSpPr/>
          <p:nvPr/>
        </p:nvSpPr>
        <p:spPr>
          <a:xfrm>
            <a:off x="640080" y="2971800"/>
            <a:ext cx="3520440" cy="109728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9808" y="3044952"/>
            <a:ext cx="3300984" cy="31750"/>
          </a:xfrm>
          <a:prstGeom prst="rect">
            <a:avLst/>
          </a:prstGeom>
          <a:solidFill>
            <a:srgbClr val="8B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3108960"/>
            <a:ext cx="3246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6EF5"/>
                </a:solidFill>
              </a:defRPr>
            </a:pPr>
            <a:r>
              <a:t>⑤ 文案/叙事策划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383280"/>
            <a:ext cx="947695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</a:defRPr>
            </a:pPr>
            <a:r>
              <a:rPr lang="zh-CN" altLang="en-US" dirty="0"/>
              <a:t>剧本叙事负责人</a:t>
            </a:r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777240" y="3558019"/>
            <a:ext cx="32461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eriod"/>
              <a:defRPr sz="750">
                <a:solidFill>
                  <a:srgbClr val="8590A5"/>
                </a:solidFill>
              </a:defRPr>
            </a:pPr>
            <a:r>
              <a:rPr dirty="0" err="1"/>
              <a:t>世界观搭建</a:t>
            </a:r>
            <a:endParaRPr lang="en-US" dirty="0"/>
          </a:p>
          <a:p>
            <a:pPr marL="228600" indent="-228600">
              <a:buAutoNum type="arabicPeriod"/>
              <a:defRPr sz="750">
                <a:solidFill>
                  <a:srgbClr val="8590A5"/>
                </a:solidFill>
              </a:defRPr>
            </a:pPr>
            <a:r>
              <a:rPr dirty="0" err="1"/>
              <a:t>剧情线</a:t>
            </a:r>
            <a:endParaRPr lang="en-US" dirty="0"/>
          </a:p>
          <a:p>
            <a:pPr marL="228600" indent="-228600">
              <a:buAutoNum type="arabicPeriod"/>
              <a:defRPr sz="750">
                <a:solidFill>
                  <a:srgbClr val="8590A5"/>
                </a:solidFill>
              </a:defRPr>
            </a:pPr>
            <a:r>
              <a:rPr dirty="0" err="1"/>
              <a:t>角色塑造</a:t>
            </a:r>
            <a:endParaRPr lang="en-US" dirty="0"/>
          </a:p>
          <a:p>
            <a:pPr marL="228600" indent="-228600">
              <a:buAutoNum type="arabicPeriod"/>
              <a:defRPr sz="750">
                <a:solidFill>
                  <a:srgbClr val="8590A5"/>
                </a:solidFill>
              </a:defRPr>
            </a:pPr>
            <a:r>
              <a:rPr dirty="0" err="1"/>
              <a:t>文化包装</a:t>
            </a:r>
            <a:endParaRPr dirty="0"/>
          </a:p>
        </p:txBody>
      </p:sp>
      <p:sp>
        <p:nvSpPr>
          <p:cNvPr id="31" name="Rounded Rectangle 30"/>
          <p:cNvSpPr/>
          <p:nvPr/>
        </p:nvSpPr>
        <p:spPr>
          <a:xfrm>
            <a:off x="4480560" y="2971800"/>
            <a:ext cx="3520440" cy="109728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90288" y="3044952"/>
            <a:ext cx="3300984" cy="31750"/>
          </a:xfrm>
          <a:prstGeom prst="rect">
            <a:avLst/>
          </a:prstGeom>
          <a:solidFill>
            <a:srgbClr val="56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17720" y="3108960"/>
            <a:ext cx="3246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6C8E0"/>
                </a:solidFill>
              </a:defRPr>
            </a:pPr>
            <a:r>
              <a:t>⑥ 技术策划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3383280"/>
            <a:ext cx="1165704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</a:defRPr>
            </a:pPr>
            <a:r>
              <a:rPr lang="zh-CN" altLang="en-US" dirty="0"/>
              <a:t>介于程序与策划之间</a:t>
            </a:r>
            <a:endParaRPr dirty="0"/>
          </a:p>
        </p:txBody>
      </p:sp>
      <p:sp>
        <p:nvSpPr>
          <p:cNvPr id="35" name="TextBox 34"/>
          <p:cNvSpPr txBox="1"/>
          <p:nvPr/>
        </p:nvSpPr>
        <p:spPr>
          <a:xfrm>
            <a:off x="4617720" y="3593592"/>
            <a:ext cx="3246120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eriod"/>
              <a:defRPr sz="750">
                <a:solidFill>
                  <a:srgbClr val="8590A5"/>
                </a:solidFill>
              </a:defRPr>
            </a:pPr>
            <a:r>
              <a:rPr lang="zh-CN" altLang="en-US" dirty="0"/>
              <a:t>开发</a:t>
            </a:r>
            <a:r>
              <a:rPr dirty="0" err="1"/>
              <a:t>工具建设</a:t>
            </a:r>
            <a:endParaRPr lang="en-US" dirty="0"/>
          </a:p>
          <a:p>
            <a:pPr marL="228600" indent="-228600">
              <a:buAutoNum type="arabicPeriod"/>
              <a:defRPr sz="750">
                <a:solidFill>
                  <a:srgbClr val="8590A5"/>
                </a:solidFill>
              </a:defRPr>
            </a:pPr>
            <a:r>
              <a:rPr dirty="0"/>
              <a:t>3C</a:t>
            </a:r>
            <a:r>
              <a:rPr lang="zh-CN" altLang="en-US" dirty="0"/>
              <a:t>实现</a:t>
            </a:r>
            <a:endParaRPr lang="en-US" dirty="0"/>
          </a:p>
          <a:p>
            <a:pPr marL="228600" indent="-228600">
              <a:buAutoNum type="arabicPeriod"/>
              <a:defRPr sz="750">
                <a:solidFill>
                  <a:srgbClr val="8590A5"/>
                </a:solidFill>
              </a:defRPr>
            </a:pPr>
            <a:r>
              <a:rPr dirty="0" err="1"/>
              <a:t>玩法原型开发</a:t>
            </a:r>
            <a:endParaRPr dirty="0"/>
          </a:p>
        </p:txBody>
      </p:sp>
      <p:sp>
        <p:nvSpPr>
          <p:cNvPr id="36" name="Rounded Rectangle 35"/>
          <p:cNvSpPr/>
          <p:nvPr/>
        </p:nvSpPr>
        <p:spPr>
          <a:xfrm>
            <a:off x="8321040" y="2971800"/>
            <a:ext cx="3520440" cy="109728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430768" y="3044952"/>
            <a:ext cx="3300984" cy="31750"/>
          </a:xfrm>
          <a:prstGeom prst="rect">
            <a:avLst/>
          </a:prstGeom>
          <a:solidFill>
            <a:srgbClr val="F5D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58200" y="3108960"/>
            <a:ext cx="3246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D060"/>
                </a:solidFill>
              </a:defRPr>
            </a:pPr>
            <a:r>
              <a:t>⑦ 运营策划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3383280"/>
            <a:ext cx="1383712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</a:defRPr>
            </a:pPr>
            <a:r>
              <a:rPr lang="zh-CN" altLang="en-US" dirty="0"/>
              <a:t>游戏数据监测与持续生长</a:t>
            </a:r>
            <a:endParaRPr dirty="0"/>
          </a:p>
        </p:txBody>
      </p:sp>
      <p:sp>
        <p:nvSpPr>
          <p:cNvPr id="40" name="TextBox 39"/>
          <p:cNvSpPr txBox="1"/>
          <p:nvPr/>
        </p:nvSpPr>
        <p:spPr>
          <a:xfrm>
            <a:off x="8442198" y="3558019"/>
            <a:ext cx="32461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eriod"/>
              <a:defRPr sz="750">
                <a:solidFill>
                  <a:srgbClr val="8590A5"/>
                </a:solidFill>
              </a:defRPr>
            </a:pPr>
            <a:r>
              <a:rPr dirty="0" err="1"/>
              <a:t>商业化设计</a:t>
            </a:r>
            <a:endParaRPr lang="en-US" dirty="0"/>
          </a:p>
          <a:p>
            <a:pPr marL="228600" indent="-228600">
              <a:buAutoNum type="arabicPeriod"/>
              <a:defRPr sz="750">
                <a:solidFill>
                  <a:srgbClr val="8590A5"/>
                </a:solidFill>
              </a:defRPr>
            </a:pPr>
            <a:r>
              <a:rPr dirty="0" err="1"/>
              <a:t>活动运营</a:t>
            </a:r>
            <a:endParaRPr lang="en-US" dirty="0"/>
          </a:p>
          <a:p>
            <a:pPr marL="228600" indent="-228600">
              <a:buAutoNum type="arabicPeriod"/>
              <a:defRPr sz="750">
                <a:solidFill>
                  <a:srgbClr val="8590A5"/>
                </a:solidFill>
              </a:defRPr>
            </a:pPr>
            <a:r>
              <a:rPr dirty="0" err="1"/>
              <a:t>版本迭代</a:t>
            </a:r>
            <a:endParaRPr lang="en-US" dirty="0"/>
          </a:p>
          <a:p>
            <a:pPr marL="228600" indent="-228600">
              <a:buAutoNum type="arabicPeriod"/>
              <a:defRPr sz="750">
                <a:solidFill>
                  <a:srgbClr val="8590A5"/>
                </a:solidFill>
              </a:defRPr>
            </a:pPr>
            <a:r>
              <a:rPr dirty="0" err="1"/>
              <a:t>数据分析，让游戏持续生长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65760"/>
            <a:ext cx="10881360" cy="38100"/>
          </a:xfrm>
          <a:prstGeom prst="rect">
            <a:avLst/>
          </a:prstGeom>
          <a:solidFill>
            <a:srgbClr val="5B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① 系统策划　System Designer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590A5"/>
                </a:solidFill>
              </a:defRPr>
            </a:pPr>
            <a:r>
              <a:t>游戏功能模块的设计蓝图与落地执行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590A5"/>
                </a:solidFill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486400" cy="425196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8" y="1618488"/>
            <a:ext cx="5266944" cy="38100"/>
          </a:xfrm>
          <a:prstGeom prst="rect">
            <a:avLst/>
          </a:prstGeom>
          <a:solidFill>
            <a:srgbClr val="40D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7099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0D9A0"/>
                </a:solidFill>
              </a:defRPr>
            </a:pPr>
            <a:r>
              <a:t>“做什么”　核心职责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75688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▸ </a:t>
            </a:r>
            <a:r>
              <a:rPr dirty="0" err="1"/>
              <a:t>根据制作需求设计游戏系统功能、玩法、活动及界面效果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22960" y="2295144"/>
            <a:ext cx="51206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▸ </a:t>
            </a:r>
            <a:r>
              <a:rPr dirty="0" err="1"/>
              <a:t>撰写可执行文档：程序功能需求、美术资源需求、UI交互流程</a:t>
            </a:r>
            <a:r>
              <a:rPr lang="zh-CN" altLang="en-US" dirty="0"/>
              <a:t>、数据埋点需求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822960" y="2514600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▸ 全程跟进研发，协调程序/美术/测试，确保系统零误差上线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34056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▸ 验收系统功能，配合测试修正Bug并迭代优化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53512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▸ 收集线上玩家反馈，持续关注所负责模块的运行状态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172968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▸ SLG方向：需深度体验策略类游戏，善于分析归纳游戏框架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92424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▸ 卡牌方向：需深度体验数值卡牌手游（剑与远征/三幻等）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11880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▸ UGC方向（腾讯元梦之星）：需了解引擎基础，有创作类平台经历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508760"/>
            <a:ext cx="5120640" cy="425196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10528" y="1618488"/>
            <a:ext cx="4901184" cy="38100"/>
          </a:xfrm>
          <a:prstGeom prst="rect">
            <a:avLst/>
          </a:prstGeom>
          <a:solidFill>
            <a:srgbClr val="5B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170992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B9BF5"/>
                </a:solidFill>
              </a:defRPr>
            </a:pPr>
            <a:r>
              <a:t>“谁会做”　任职要求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13436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✓ </a:t>
            </a:r>
            <a:r>
              <a:rPr dirty="0" err="1"/>
              <a:t>较强的逻辑思维能力和系统化思考能力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6583680" y="2353818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✓ </a:t>
            </a:r>
            <a:r>
              <a:rPr dirty="0" err="1"/>
              <a:t>良好的沟通能力、团队协作意识和学习能力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6583680" y="2592324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✓ </a:t>
            </a:r>
            <a:r>
              <a:rPr dirty="0" err="1"/>
              <a:t>熟练使用</a:t>
            </a:r>
            <a:r>
              <a:rPr dirty="0"/>
              <a:t> Word/Excel/PPT </a:t>
            </a:r>
            <a:r>
              <a:rPr dirty="0" err="1"/>
              <a:t>等文档工具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6583680" y="2805430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✓ </a:t>
            </a:r>
            <a:r>
              <a:rPr dirty="0" err="1"/>
              <a:t>有游戏策划实习或独立设计文档</a:t>
            </a:r>
            <a:r>
              <a:rPr dirty="0"/>
              <a:t>/</a:t>
            </a:r>
            <a:r>
              <a:rPr dirty="0" err="1"/>
              <a:t>作品集者优先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6583680" y="304876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✓ </a:t>
            </a:r>
            <a:r>
              <a:rPr dirty="0" err="1"/>
              <a:t>部分方向要求：深度体验特定品类（SLG</a:t>
            </a:r>
            <a:r>
              <a:rPr dirty="0"/>
              <a:t>/</a:t>
            </a:r>
            <a:r>
              <a:rPr dirty="0" err="1"/>
              <a:t>卡牌</a:t>
            </a:r>
            <a:r>
              <a:rPr dirty="0"/>
              <a:t>/</a:t>
            </a:r>
            <a:r>
              <a:rPr dirty="0" err="1"/>
              <a:t>MMO等</a:t>
            </a:r>
            <a:r>
              <a:rPr dirty="0"/>
              <a:t>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943600"/>
            <a:ext cx="10881360" cy="502920"/>
          </a:xfrm>
          <a:prstGeom prst="roundRect">
            <a:avLst/>
          </a:prstGeom>
          <a:solidFill>
            <a:srgbClr val="16223E"/>
          </a:solidFill>
          <a:ln w="10160">
            <a:solidFill>
              <a:srgbClr val="5B9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998464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系统策划是策划团队的中枢，上接制作人意图下接程序美术落地。要求“逻辑清晰、文档规范、推动力强”。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76548BAD-08FF-87A2-B6E9-215D57B92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79" y="3451098"/>
            <a:ext cx="4789667" cy="14003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65760"/>
            <a:ext cx="10881360" cy="38100"/>
          </a:xfrm>
          <a:prstGeom prst="rect">
            <a:avLst/>
          </a:prstGeom>
          <a:solidFill>
            <a:srgbClr val="5B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② 关卡策划　Level Designer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590A5"/>
                </a:solidFill>
              </a:defRPr>
            </a:pPr>
            <a:r>
              <a:t>设计关卡的每一寸空间、节奏与挑战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590A5"/>
                </a:solidFill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486400" cy="425196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8" y="1618488"/>
            <a:ext cx="5266944" cy="38100"/>
          </a:xfrm>
          <a:prstGeom prst="rect">
            <a:avLst/>
          </a:prstGeom>
          <a:solidFill>
            <a:srgbClr val="40D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7099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0D9A0"/>
                </a:solidFill>
              </a:defRPr>
            </a:pPr>
            <a:r>
              <a:t>“做什么”　核心职责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75688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▸ 设计关卡的地形布局（Layout）、敌人配置、道具分布和事件触发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95144"/>
            <a:ext cx="51206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▸ 运用3D工具</a:t>
            </a:r>
            <a:r>
              <a:rPr lang="zh-CN" altLang="en-US" dirty="0"/>
              <a:t>或</a:t>
            </a:r>
            <a:r>
              <a:rPr dirty="0" err="1"/>
              <a:t>引擎搭建白盒验证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822960" y="2514600"/>
            <a:ext cx="51206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▸ </a:t>
            </a:r>
            <a:r>
              <a:rPr dirty="0" err="1"/>
              <a:t>制定关卡的目标、规则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822960" y="2734056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▸ 与系统策划、美术配合，持续调优关卡流程体验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53512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▸ </a:t>
            </a:r>
            <a:r>
              <a:rPr dirty="0" err="1"/>
              <a:t>跟进关卡从白盒到美术成品的完整制作管线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822960" y="3172968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▸ </a:t>
            </a:r>
            <a:r>
              <a:rPr dirty="0" err="1"/>
              <a:t>FPS方向：需深度体验射击游戏（塔科夫</a:t>
            </a:r>
            <a:r>
              <a:rPr dirty="0"/>
              <a:t>/CSGO/</a:t>
            </a:r>
            <a:r>
              <a:rPr dirty="0" err="1"/>
              <a:t>Valorant等</a:t>
            </a:r>
            <a:r>
              <a:rPr dirty="0"/>
              <a:t>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92424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▸ </a:t>
            </a:r>
            <a:r>
              <a:rPr dirty="0" err="1"/>
              <a:t>休闲向：需有创意和空间设计感，不限于特定品类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6400800" y="1508760"/>
            <a:ext cx="5120640" cy="425196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10528" y="1618488"/>
            <a:ext cx="4901184" cy="38100"/>
          </a:xfrm>
          <a:prstGeom prst="rect">
            <a:avLst/>
          </a:prstGeom>
          <a:solidFill>
            <a:srgbClr val="5B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170992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B9BF5"/>
                </a:solidFill>
              </a:defRPr>
            </a:pPr>
            <a:r>
              <a:t>“谁会做”　任职要求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075688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✓ </a:t>
            </a:r>
            <a:r>
              <a:rPr dirty="0" err="1"/>
              <a:t>至少掌握一款建模软件（含引擎内建模</a:t>
            </a:r>
            <a:r>
              <a:rPr dirty="0"/>
              <a:t>），能独立制作关卡3D白盒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295144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✓ </a:t>
            </a:r>
            <a:r>
              <a:rPr dirty="0" err="1"/>
              <a:t>较强的空间想象力和逻辑思维能力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6583680" y="2514600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✓ 美术表现敏感，能理解不同类型玩家的体验诉求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734056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✓ 有美术或建筑设计背景者优先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95351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✓ </a:t>
            </a:r>
            <a:r>
              <a:rPr dirty="0" err="1"/>
              <a:t>加分项：掌握Unreal蓝图、建筑学相关专业、有关卡设计作品集</a:t>
            </a:r>
            <a:endParaRPr dirty="0"/>
          </a:p>
        </p:txBody>
      </p:sp>
      <p:sp>
        <p:nvSpPr>
          <p:cNvPr id="26" name="Rounded Rectangle 25"/>
          <p:cNvSpPr/>
          <p:nvPr/>
        </p:nvSpPr>
        <p:spPr>
          <a:xfrm>
            <a:off x="640080" y="5943600"/>
            <a:ext cx="10881360" cy="502920"/>
          </a:xfrm>
          <a:prstGeom prst="roundRect">
            <a:avLst/>
          </a:prstGeom>
          <a:solidFill>
            <a:srgbClr val="16223E"/>
          </a:solidFill>
          <a:ln w="10160">
            <a:solidFill>
              <a:srgbClr val="5B9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5998464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关卡策划是最适合“艺术/建筑/空间设计背景”转行的策划工种。需要空间思维、共情力和引擎实操能力。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6D2C871C-932F-C228-8520-C4378B4E0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3218688"/>
            <a:ext cx="4754880" cy="22142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65760"/>
            <a:ext cx="10881360" cy="38100"/>
          </a:xfrm>
          <a:prstGeom prst="rect">
            <a:avLst/>
          </a:prstGeom>
          <a:solidFill>
            <a:srgbClr val="5B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③ 数值策划　Numerical Designer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590A5"/>
                </a:solidFill>
              </a:defRPr>
            </a:pPr>
            <a:r>
              <a:t>用数学模型支撑游戏核心体验，为世界注入数字灵魂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590A5"/>
                </a:solidFill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486400" cy="425196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8" y="1618488"/>
            <a:ext cx="5266944" cy="38100"/>
          </a:xfrm>
          <a:prstGeom prst="rect">
            <a:avLst/>
          </a:prstGeom>
          <a:solidFill>
            <a:srgbClr val="40D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7099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0D9A0"/>
                </a:solidFill>
              </a:defRPr>
            </a:pPr>
            <a:r>
              <a:t>“做什么”　核心职责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75688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▸ 负责数值相关表格的创建、配置、测试、调整，保证数值体系的平衡性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95144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▸ </a:t>
            </a:r>
            <a:r>
              <a:rPr dirty="0" err="1"/>
              <a:t>设计、配置和调整游戏中的战斗、成长、经济等数值参数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822960" y="2514600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▸ </a:t>
            </a:r>
            <a:r>
              <a:rPr dirty="0" err="1"/>
              <a:t>建立数学模型，推导数值公式，配置数值组各项表格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822960" y="2734056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▸ </a:t>
            </a:r>
            <a:r>
              <a:rPr dirty="0" err="1"/>
              <a:t>以数值为基础推动相关系统设计，协助评估和设计活动方案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822960" y="2953512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▸ </a:t>
            </a:r>
            <a:r>
              <a:rPr dirty="0" err="1"/>
              <a:t>进行数值模拟和测试，分析数值表现并及时调整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822960" y="3172968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▸ </a:t>
            </a:r>
            <a:r>
              <a:rPr dirty="0" err="1"/>
              <a:t>经济向：设计资源产出</a:t>
            </a:r>
            <a:r>
              <a:rPr dirty="0"/>
              <a:t>/</a:t>
            </a:r>
            <a:r>
              <a:rPr dirty="0" err="1"/>
              <a:t>消耗</a:t>
            </a:r>
            <a:r>
              <a:rPr dirty="0"/>
              <a:t>/</a:t>
            </a:r>
            <a:r>
              <a:rPr dirty="0" err="1"/>
              <a:t>通胀控制的完整经济循环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822960" y="3392424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▸ </a:t>
            </a:r>
            <a:r>
              <a:rPr dirty="0" err="1"/>
              <a:t>战斗向：平衡角色属性</a:t>
            </a:r>
            <a:r>
              <a:rPr dirty="0"/>
              <a:t>/</a:t>
            </a:r>
            <a:r>
              <a:rPr dirty="0" err="1"/>
              <a:t>技能强度</a:t>
            </a:r>
            <a:r>
              <a:rPr dirty="0"/>
              <a:t>/</a:t>
            </a:r>
            <a:r>
              <a:rPr dirty="0" err="1"/>
              <a:t>伤害公式</a:t>
            </a:r>
            <a:r>
              <a:rPr dirty="0"/>
              <a:t>/</a:t>
            </a:r>
            <a:r>
              <a:rPr dirty="0" err="1"/>
              <a:t>成长曲线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6400800" y="1508760"/>
            <a:ext cx="5120640" cy="425196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10528" y="1618488"/>
            <a:ext cx="4901184" cy="38100"/>
          </a:xfrm>
          <a:prstGeom prst="rect">
            <a:avLst/>
          </a:prstGeom>
          <a:solidFill>
            <a:srgbClr val="5B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170992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B9BF5"/>
                </a:solidFill>
              </a:defRPr>
            </a:pPr>
            <a:r>
              <a:t>“谁会做”　任职要求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075688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✓ </a:t>
            </a:r>
            <a:r>
              <a:rPr dirty="0" err="1"/>
              <a:t>本科及以上，数学</a:t>
            </a:r>
            <a:r>
              <a:rPr dirty="0"/>
              <a:t>/</a:t>
            </a:r>
            <a:r>
              <a:rPr dirty="0" err="1"/>
              <a:t>统计</a:t>
            </a:r>
            <a:r>
              <a:rPr dirty="0"/>
              <a:t>/</a:t>
            </a:r>
            <a:r>
              <a:rPr dirty="0" err="1"/>
              <a:t>数据科学相关专业优先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6583680" y="2295144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✓ </a:t>
            </a:r>
            <a:r>
              <a:rPr dirty="0" err="1"/>
              <a:t>数学基础扎实，具备较强的数学能力和逻辑思维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6583680" y="2514600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✓ </a:t>
            </a:r>
            <a:r>
              <a:rPr dirty="0" err="1"/>
              <a:t>熟练使用Excel高级功能（数据透视表</a:t>
            </a:r>
            <a:r>
              <a:rPr dirty="0"/>
              <a:t>/</a:t>
            </a:r>
            <a:r>
              <a:rPr dirty="0" err="1"/>
              <a:t>图表分析</a:t>
            </a:r>
            <a:r>
              <a:rPr dirty="0"/>
              <a:t>/</a:t>
            </a:r>
            <a:r>
              <a:rPr dirty="0" err="1"/>
              <a:t>VBA等</a:t>
            </a:r>
            <a:r>
              <a:rPr dirty="0"/>
              <a:t>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734056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✓ </a:t>
            </a:r>
            <a:r>
              <a:rPr dirty="0" err="1"/>
              <a:t>有数值建模经验或数学建模竞赛经历者优先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6583680" y="295351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✓ </a:t>
            </a:r>
            <a:r>
              <a:rPr dirty="0" err="1"/>
              <a:t>理解边际效用递减、概率设计、成长曲线（S型</a:t>
            </a:r>
            <a:r>
              <a:rPr dirty="0"/>
              <a:t>/</a:t>
            </a:r>
            <a:r>
              <a:rPr dirty="0" err="1"/>
              <a:t>对数</a:t>
            </a:r>
            <a:r>
              <a:rPr dirty="0"/>
              <a:t>/</a:t>
            </a:r>
            <a:r>
              <a:rPr dirty="0" err="1"/>
              <a:t>指数</a:t>
            </a:r>
            <a:r>
              <a:rPr dirty="0"/>
              <a:t>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172968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✓ </a:t>
            </a:r>
            <a:r>
              <a:rPr dirty="0" err="1"/>
              <a:t>理解游戏经济系统中资源产出</a:t>
            </a:r>
            <a:r>
              <a:rPr dirty="0"/>
              <a:t>/</a:t>
            </a:r>
            <a:r>
              <a:rPr dirty="0" err="1"/>
              <a:t>消耗</a:t>
            </a:r>
            <a:r>
              <a:rPr dirty="0"/>
              <a:t>/</a:t>
            </a:r>
            <a:r>
              <a:rPr dirty="0" err="1"/>
              <a:t>通货膨胀的控制方法</a:t>
            </a:r>
            <a:endParaRPr dirty="0"/>
          </a:p>
        </p:txBody>
      </p:sp>
      <p:sp>
        <p:nvSpPr>
          <p:cNvPr id="25" name="Rounded Rectangle 24"/>
          <p:cNvSpPr/>
          <p:nvPr/>
        </p:nvSpPr>
        <p:spPr>
          <a:xfrm>
            <a:off x="640080" y="5943600"/>
            <a:ext cx="10881360" cy="502920"/>
          </a:xfrm>
          <a:prstGeom prst="roundRect">
            <a:avLst/>
          </a:prstGeom>
          <a:solidFill>
            <a:srgbClr val="16223E"/>
          </a:solidFill>
          <a:ln w="10160">
            <a:solidFill>
              <a:srgbClr val="5B9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5998464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数值策划对数学基础要求最高。“不建议纯艺术背景”学生以此为主攻，但应具备基础数值素养以支撑关卡/系统设计。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4C2ABF41-8F37-66BC-36A2-3E22A5284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947" y="3392425"/>
            <a:ext cx="4769613" cy="2139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65760"/>
            <a:ext cx="10881360" cy="38100"/>
          </a:xfrm>
          <a:prstGeom prst="rect">
            <a:avLst/>
          </a:prstGeom>
          <a:solidFill>
            <a:srgbClr val="5B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④ 战斗策划　Combat Designer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590A5"/>
                </a:solidFill>
              </a:defRPr>
            </a:pPr>
            <a:r>
              <a:t>设计每帧战斗的体验 — 角色技能、操作手感与战斗节奏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590A5"/>
                </a:solidFill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486400" cy="425196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8" y="1618488"/>
            <a:ext cx="5266944" cy="38100"/>
          </a:xfrm>
          <a:prstGeom prst="rect">
            <a:avLst/>
          </a:prstGeom>
          <a:solidFill>
            <a:srgbClr val="40D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7099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0D9A0"/>
                </a:solidFill>
              </a:defRPr>
            </a:pPr>
            <a:r>
              <a:t>“做什么”　核心职责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75688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▸ </a:t>
            </a:r>
            <a:r>
              <a:rPr dirty="0" err="1"/>
              <a:t>参与游戏战斗相关玩法搭建，设计角色技能、怪物玩法及战斗机制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22960" y="2295144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▸ </a:t>
            </a:r>
            <a:r>
              <a:rPr dirty="0" err="1"/>
              <a:t>与系统策划协作制作新玩法、关卡、活动等内容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822960" y="2514600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▸ </a:t>
            </a:r>
            <a:r>
              <a:rPr dirty="0" err="1"/>
              <a:t>整合战斗需求，与美术对接，跟进开发落地（动作</a:t>
            </a:r>
            <a:r>
              <a:rPr dirty="0"/>
              <a:t>/</a:t>
            </a:r>
            <a:r>
              <a:rPr dirty="0" err="1"/>
              <a:t>特效</a:t>
            </a:r>
            <a:r>
              <a:rPr dirty="0"/>
              <a:t>/</a:t>
            </a:r>
            <a:r>
              <a:rPr dirty="0" err="1"/>
              <a:t>手感调优</a:t>
            </a:r>
            <a:r>
              <a:rPr dirty="0"/>
              <a:t>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34056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▸ </a:t>
            </a:r>
            <a:r>
              <a:rPr dirty="0" err="1"/>
              <a:t>配合数值策划平衡战斗中角色属性、技能强度，优化战斗感受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822960" y="2953512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▸ </a:t>
            </a:r>
            <a:r>
              <a:rPr dirty="0" err="1"/>
              <a:t>根据玩家反馈、数据分析进行版本迭代升级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822960" y="3172968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▸ </a:t>
            </a:r>
            <a:r>
              <a:rPr dirty="0" err="1"/>
              <a:t>回合制方向：对回合制战斗策略有深入思考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822960" y="3392424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▸ </a:t>
            </a:r>
            <a:r>
              <a:rPr dirty="0" err="1"/>
              <a:t>FPS方向：深入玩过多款射击游戏，能分析操作手感差异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6400800" y="1508760"/>
            <a:ext cx="5120640" cy="425196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10528" y="1618488"/>
            <a:ext cx="4901184" cy="38100"/>
          </a:xfrm>
          <a:prstGeom prst="rect">
            <a:avLst/>
          </a:prstGeom>
          <a:solidFill>
            <a:srgbClr val="5B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170992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B9BF5"/>
                </a:solidFill>
              </a:defRPr>
            </a:pPr>
            <a:r>
              <a:t>“谁会做”　任职要求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075688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✓ </a:t>
            </a:r>
            <a:r>
              <a:rPr dirty="0" err="1"/>
              <a:t>游戏经历丰富，对战斗系统有深入理解和独到见解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6583680" y="2295144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✓ </a:t>
            </a:r>
            <a:r>
              <a:rPr dirty="0" err="1"/>
              <a:t>对特定战斗类型有深度体验（回合制</a:t>
            </a:r>
            <a:r>
              <a:rPr dirty="0"/>
              <a:t>/FPS/MOBA/</a:t>
            </a:r>
            <a:r>
              <a:rPr dirty="0" err="1"/>
              <a:t>动作卡牌</a:t>
            </a:r>
            <a:r>
              <a:rPr dirty="0"/>
              <a:t>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514600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✓ </a:t>
            </a:r>
            <a:r>
              <a:rPr dirty="0" err="1"/>
              <a:t>较强的逻辑思维和文字表达能力，方案编写逻辑严密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6583680" y="2734056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✓ </a:t>
            </a:r>
            <a:r>
              <a:rPr dirty="0" err="1"/>
              <a:t>良好的团队合作和沟通能力，能有效协调程序</a:t>
            </a:r>
            <a:r>
              <a:rPr dirty="0"/>
              <a:t>/</a:t>
            </a:r>
            <a:r>
              <a:rPr dirty="0" err="1"/>
              <a:t>美术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6583680" y="2950464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✓ </a:t>
            </a:r>
            <a:r>
              <a:rPr dirty="0" err="1"/>
              <a:t>部分方向加试：对打击感</a:t>
            </a:r>
            <a:r>
              <a:rPr dirty="0"/>
              <a:t>/</a:t>
            </a:r>
            <a:r>
              <a:rPr dirty="0" err="1"/>
              <a:t>动作节奏</a:t>
            </a:r>
            <a:r>
              <a:rPr dirty="0"/>
              <a:t>/</a:t>
            </a:r>
            <a:r>
              <a:rPr dirty="0" err="1"/>
              <a:t>镜头语言有分析能力</a:t>
            </a:r>
            <a:endParaRPr dirty="0"/>
          </a:p>
        </p:txBody>
      </p:sp>
      <p:sp>
        <p:nvSpPr>
          <p:cNvPr id="26" name="Rounded Rectangle 25"/>
          <p:cNvSpPr/>
          <p:nvPr/>
        </p:nvSpPr>
        <p:spPr>
          <a:xfrm>
            <a:off x="640080" y="5943600"/>
            <a:ext cx="10881360" cy="502920"/>
          </a:xfrm>
          <a:prstGeom prst="roundRect">
            <a:avLst/>
          </a:prstGeom>
          <a:solidFill>
            <a:srgbClr val="16223E"/>
          </a:solidFill>
          <a:ln w="10160">
            <a:solidFill>
              <a:srgbClr val="5B9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5998464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战斗策划需要“对操作手感/动作节奏/打击反馈有本能敏感度”。与关卡策划密切协作，共同构建玩家核心体验。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5CE45540-8CBC-C67F-F141-F2483FF24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604" y="3224784"/>
            <a:ext cx="4501811" cy="22951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65760"/>
            <a:ext cx="10881360" cy="38100"/>
          </a:xfrm>
          <a:prstGeom prst="rect">
            <a:avLst/>
          </a:prstGeom>
          <a:solidFill>
            <a:srgbClr val="5B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737468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dirty="0" err="1"/>
              <a:t>其他三类策划岗位</a:t>
            </a:r>
            <a:r>
              <a:rPr lang="zh-CN" altLang="en-US" dirty="0"/>
              <a:t>（强调专业背景）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590A5"/>
                </a:solidFill>
              </a:defRPr>
            </a:pPr>
            <a:r>
              <a:t>文案叙事 / 技术策划 / 运营策划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590A5"/>
                </a:solidFill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520440" cy="466344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8" y="1618488"/>
            <a:ext cx="3300984" cy="38100"/>
          </a:xfrm>
          <a:prstGeom prst="rect">
            <a:avLst/>
          </a:prstGeom>
          <a:solidFill>
            <a:srgbClr val="8B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709928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6EF5"/>
                </a:solidFill>
              </a:defRPr>
            </a:pPr>
            <a:r>
              <a:t>文案/叙事策划</a:t>
            </a:r>
            <a:br/>
            <a:r>
              <a:t>Narrative Designer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75688"/>
            <a:ext cx="3154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▸ </a:t>
            </a:r>
            <a:r>
              <a:rPr dirty="0" err="1"/>
              <a:t>世界观搭建：历史</a:t>
            </a:r>
            <a:r>
              <a:rPr dirty="0"/>
              <a:t>/</a:t>
            </a:r>
            <a:r>
              <a:rPr dirty="0" err="1"/>
              <a:t>地理</a:t>
            </a:r>
            <a:r>
              <a:rPr dirty="0"/>
              <a:t>/</a:t>
            </a:r>
            <a:r>
              <a:rPr dirty="0" err="1"/>
              <a:t>种族</a:t>
            </a:r>
            <a:r>
              <a:rPr dirty="0"/>
              <a:t>/</a:t>
            </a:r>
            <a:r>
              <a:rPr dirty="0" err="1"/>
              <a:t>文化体系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22960" y="2295144"/>
            <a:ext cx="3154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▸ </a:t>
            </a:r>
            <a:r>
              <a:rPr dirty="0" err="1"/>
              <a:t>剧情文本：主线</a:t>
            </a:r>
            <a:r>
              <a:rPr dirty="0"/>
              <a:t>/</a:t>
            </a:r>
            <a:r>
              <a:rPr dirty="0" err="1"/>
              <a:t>支线任务文本、角色对话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822960" y="2514600"/>
            <a:ext cx="3154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▸ </a:t>
            </a:r>
            <a:r>
              <a:rPr dirty="0" err="1"/>
              <a:t>角色塑造：人设</a:t>
            </a:r>
            <a:r>
              <a:rPr dirty="0"/>
              <a:t>/</a:t>
            </a:r>
            <a:r>
              <a:rPr dirty="0" err="1"/>
              <a:t>背景故事</a:t>
            </a:r>
            <a:r>
              <a:rPr dirty="0"/>
              <a:t>/</a:t>
            </a:r>
            <a:r>
              <a:rPr dirty="0" err="1"/>
              <a:t>性格弧线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822960" y="2734056"/>
            <a:ext cx="3154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▸ 文化包装：道具描述/场景叙事/碎片化叙事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53512"/>
            <a:ext cx="3154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▸ 与关卡/系统协作，将叙事融入玩法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172968"/>
            <a:ext cx="3154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392424"/>
            <a:ext cx="3154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“任职要求”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11880"/>
            <a:ext cx="3154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✓ 中文/编剧/文学/影视相关专业优先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31336"/>
            <a:ext cx="3154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✓ </a:t>
            </a:r>
            <a:r>
              <a:rPr dirty="0" err="1"/>
              <a:t>有完整的原创世界观</a:t>
            </a:r>
            <a:r>
              <a:rPr dirty="0"/>
              <a:t>/</a:t>
            </a:r>
            <a:r>
              <a:rPr dirty="0" err="1"/>
              <a:t>小说</a:t>
            </a:r>
            <a:r>
              <a:rPr dirty="0"/>
              <a:t>/</a:t>
            </a:r>
            <a:r>
              <a:rPr dirty="0" err="1"/>
              <a:t>剧本作品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822960" y="4050792"/>
            <a:ext cx="3154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✓ </a:t>
            </a:r>
            <a:r>
              <a:rPr dirty="0" err="1"/>
              <a:t>岗位相对较少，竞争集中</a:t>
            </a:r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4480560" y="1508760"/>
            <a:ext cx="3520440" cy="466344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90288" y="1618488"/>
            <a:ext cx="3300984" cy="38100"/>
          </a:xfrm>
          <a:prstGeom prst="rect">
            <a:avLst/>
          </a:prstGeom>
          <a:solidFill>
            <a:srgbClr val="56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63440" y="1709928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6C8E0"/>
                </a:solidFill>
              </a:defRPr>
            </a:pPr>
            <a:r>
              <a:t>技术策划</a:t>
            </a:r>
            <a:br/>
            <a:r>
              <a:t>Technical Designer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075688"/>
            <a:ext cx="3154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▸ 策划工具链开发与维护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295144"/>
            <a:ext cx="3154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▸ 3C（角色/镜头/操控）设计与原型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2514600"/>
            <a:ext cx="3154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▸ AI行为/状态机的设计与配置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2734056"/>
            <a:ext cx="3154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▸ 玩法原型开发（蓝图/脚本快速验证）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2953512"/>
            <a:ext cx="3154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▸ 程序与策划之间的技术沟通桥梁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172968"/>
            <a:ext cx="3154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63440" y="3392424"/>
            <a:ext cx="3154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“任职要求”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3611880"/>
            <a:ext cx="3154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✓ 需具备编程基础（Python/C#/Lua等）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3831336"/>
            <a:ext cx="3154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✓ 熟悉UE5 </a:t>
            </a:r>
            <a:r>
              <a:rPr dirty="0" err="1"/>
              <a:t>Blueprint或Unity</a:t>
            </a:r>
            <a:endParaRPr dirty="0"/>
          </a:p>
        </p:txBody>
      </p:sp>
      <p:sp>
        <p:nvSpPr>
          <p:cNvPr id="31" name="TextBox 30"/>
          <p:cNvSpPr txBox="1"/>
          <p:nvPr/>
        </p:nvSpPr>
        <p:spPr>
          <a:xfrm>
            <a:off x="4663440" y="4050792"/>
            <a:ext cx="3154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✓ </a:t>
            </a:r>
            <a:r>
              <a:rPr dirty="0" err="1"/>
              <a:t>新兴岗位，需求上升，人才稀缺</a:t>
            </a:r>
            <a:endParaRPr dirty="0"/>
          </a:p>
        </p:txBody>
      </p:sp>
      <p:sp>
        <p:nvSpPr>
          <p:cNvPr id="32" name="Rounded Rectangle 31"/>
          <p:cNvSpPr/>
          <p:nvPr/>
        </p:nvSpPr>
        <p:spPr>
          <a:xfrm>
            <a:off x="8321040" y="1508760"/>
            <a:ext cx="3520440" cy="466344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430768" y="1618488"/>
            <a:ext cx="3300984" cy="38100"/>
          </a:xfrm>
          <a:prstGeom prst="rect">
            <a:avLst/>
          </a:prstGeom>
          <a:solidFill>
            <a:srgbClr val="F5D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03920" y="1709928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D060"/>
                </a:solidFill>
              </a:defRPr>
            </a:pPr>
            <a:r>
              <a:t>运营策划</a:t>
            </a:r>
            <a:br/>
            <a:r>
              <a:t>LiveOps Designer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2075688"/>
            <a:ext cx="3154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▸ 商业化设计与付费点规划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2295144"/>
            <a:ext cx="3154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▸ 活动运营：节日活动/限时玩法/回归活动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2514600"/>
            <a:ext cx="3154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▸ 版本迭代规划与排期管理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2734056"/>
            <a:ext cx="3154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▸ 数据分析：留存/付费/活跃等核心指标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2953512"/>
            <a:ext cx="3154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▸ 用户调研与竞品分析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3172968"/>
            <a:ext cx="3154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03920" y="3392424"/>
            <a:ext cx="3154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“任职要求”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3611880"/>
            <a:ext cx="3154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✓ </a:t>
            </a:r>
            <a:r>
              <a:rPr dirty="0" err="1"/>
              <a:t>数据分析能力强，熟练使用Excel</a:t>
            </a:r>
            <a:r>
              <a:rPr dirty="0"/>
              <a:t>/SQL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3831336"/>
            <a:ext cx="3154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✓ </a:t>
            </a:r>
            <a:r>
              <a:rPr dirty="0" err="1"/>
              <a:t>对商业模式和用户心理有敏感度</a:t>
            </a:r>
            <a:endParaRPr dirty="0"/>
          </a:p>
        </p:txBody>
      </p:sp>
      <p:sp>
        <p:nvSpPr>
          <p:cNvPr id="44" name="TextBox 43"/>
          <p:cNvSpPr txBox="1"/>
          <p:nvPr/>
        </p:nvSpPr>
        <p:spPr>
          <a:xfrm>
            <a:off x="8503920" y="4050792"/>
            <a:ext cx="3154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✓ </a:t>
            </a:r>
            <a:r>
              <a:rPr dirty="0" err="1"/>
              <a:t>沟通力强，协调多部门推进活动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B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65760"/>
            <a:ext cx="10881360" cy="38100"/>
          </a:xfrm>
          <a:prstGeom prst="rect">
            <a:avLst/>
          </a:prstGeom>
          <a:solidFill>
            <a:srgbClr val="5B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03214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dirty="0" err="1"/>
              <a:t>岗位匹配度分析：七大策划工种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590A5"/>
                </a:solidFill>
              </a:defRPr>
            </a:pPr>
            <a:r>
              <a:t>基于雕塑/RCA艺术背景、策展经历、软件技能和课前作业表现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590A5"/>
                </a:solidFill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2606040" cy="1645920"/>
          </a:xfrm>
          <a:prstGeom prst="roundRect">
            <a:avLst/>
          </a:prstGeom>
          <a:solidFill>
            <a:srgbClr val="121C35"/>
          </a:solidFill>
          <a:ln w="12700">
            <a:solidFill>
              <a:srgbClr val="40D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2331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0D9A0"/>
                </a:solidFill>
              </a:defRPr>
            </a:pPr>
            <a:r>
              <a:t>★★★ 关卡/场景策划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56232"/>
            <a:ext cx="2331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90A5"/>
                </a:solidFill>
              </a:defRPr>
            </a:pPr>
            <a:r>
              <a:t>首推主攻方向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39112"/>
            <a:ext cx="2331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5C0D5"/>
                </a:solidFill>
              </a:defRPr>
            </a:pPr>
            <a:r>
              <a:t>✔ 雕塑/装置的空间设计经验 = 关卡Layout天然直觉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12848"/>
            <a:ext cx="2331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5C0D5"/>
                </a:solidFill>
              </a:defRPr>
            </a:pPr>
            <a:r>
              <a:t>✔ 策展中的观众动线设计 = 关卡引导设计直接迁移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86584"/>
            <a:ext cx="2331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5C0D5"/>
                </a:solidFill>
              </a:defRPr>
            </a:pPr>
            <a:r>
              <a:t>✔ 作业中对奥日水坝关卡的分析已展示空间再语境化的敏感度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60320"/>
            <a:ext cx="2331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5C0D5"/>
                </a:solidFill>
              </a:defRPr>
            </a:pPr>
            <a:r>
              <a:t>✔ 熟练Blender/C4D = 白盒搭建能力已有基础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34056"/>
            <a:ext cx="2331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5C0D5"/>
                </a:solidFill>
              </a:defRPr>
            </a:pPr>
            <a:r>
              <a:t>△ 需补：引擎内实操（UE5）、专业术语和规范文档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1508760"/>
            <a:ext cx="2606040" cy="1645920"/>
          </a:xfrm>
          <a:prstGeom prst="roundRect">
            <a:avLst/>
          </a:prstGeom>
          <a:solidFill>
            <a:srgbClr val="121C35"/>
          </a:solidFill>
          <a:ln w="12700">
            <a:solidFill>
              <a:srgbClr val="5B9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0" y="1600200"/>
            <a:ext cx="2331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9BF5"/>
                </a:solidFill>
              </a:defRPr>
            </a:pPr>
            <a:r>
              <a:t>★★ 系统/玩法策划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1856232"/>
            <a:ext cx="2331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90A5"/>
                </a:solidFill>
              </a:defRPr>
            </a:pPr>
            <a:r>
              <a:t>次选方向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039112"/>
            <a:ext cx="2331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5C0D5"/>
                </a:solidFill>
              </a:defRPr>
            </a:pPr>
            <a:r>
              <a:t>✔ 生态系统搭建经历 = 系统循环与平衡思维雏形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212848"/>
            <a:ext cx="2331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5C0D5"/>
                </a:solidFill>
              </a:defRPr>
            </a:pPr>
            <a:r>
              <a:t>✔ 作业中对哥布林背包→骨头→风险的分析展示了系统链思维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386584"/>
            <a:ext cx="2331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5C0D5"/>
                </a:solidFill>
              </a:defRPr>
            </a:pPr>
            <a:r>
              <a:t>✔ 已有改进方案能力（雇佣兵/分销商系统）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560320"/>
            <a:ext cx="2331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5C0D5"/>
                </a:solidFill>
              </a:defRPr>
            </a:pPr>
            <a:r>
              <a:t>△ 需补：玩法循环术语、PRD规范文档、数值设计基础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508760"/>
            <a:ext cx="2606040" cy="1645920"/>
          </a:xfrm>
          <a:prstGeom prst="roundRect">
            <a:avLst/>
          </a:prstGeom>
          <a:solidFill>
            <a:srgbClr val="121C35"/>
          </a:solidFill>
          <a:ln w="12700">
            <a:solidFill>
              <a:srgbClr val="8B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1600200"/>
            <a:ext cx="2331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B6EF5"/>
                </a:solidFill>
              </a:defRPr>
            </a:pPr>
            <a:r>
              <a:t>★ 文案/叙事策划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1856232"/>
            <a:ext cx="2331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90A5"/>
                </a:solidFill>
              </a:defRPr>
            </a:pPr>
            <a:r>
              <a:t>备选方向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039112"/>
            <a:ext cx="2331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5C0D5"/>
                </a:solidFill>
              </a:defRPr>
            </a:pPr>
            <a:r>
              <a:t>✔ RCA艺术人文背景 + 策展叙事能力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212848"/>
            <a:ext cx="2331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5C0D5"/>
                </a:solidFill>
              </a:defRPr>
            </a:pPr>
            <a:r>
              <a:t>✔ 作业中对奥日剧情—玩法一致性的分析非常深入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386584"/>
            <a:ext cx="2331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5C0D5"/>
                </a:solidFill>
              </a:defRPr>
            </a:pPr>
            <a:r>
              <a:t>△ 岗位相对较少，竞争集中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2560320"/>
            <a:ext cx="2331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5C0D5"/>
                </a:solidFill>
              </a:defRPr>
            </a:pPr>
            <a:r>
              <a:t>△ 需补：游戏叙事规范文档、世界观设定方法论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81160" y="1508760"/>
            <a:ext cx="2606040" cy="1645920"/>
          </a:xfrm>
          <a:prstGeom prst="roundRect">
            <a:avLst/>
          </a:prstGeom>
          <a:solidFill>
            <a:srgbClr val="121C35"/>
          </a:solidFill>
          <a:ln w="12700">
            <a:solidFill>
              <a:srgbClr val="E86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18320" y="1600200"/>
            <a:ext cx="2331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8606E"/>
                </a:solidFill>
              </a:defRPr>
            </a:pPr>
            <a:r>
              <a:t>☆ 战斗策划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1856232"/>
            <a:ext cx="2331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90A5"/>
                </a:solidFill>
              </a:defRPr>
            </a:pPr>
            <a:r>
              <a:t>不推荐主攻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2039112"/>
            <a:ext cx="2331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5C0D5"/>
                </a:solidFill>
              </a:defRPr>
            </a:pPr>
            <a:r>
              <a:t>△ 缺乏ACT/ARPG的深度战斗分析经验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2212848"/>
            <a:ext cx="2331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5C0D5"/>
                </a:solidFill>
              </a:defRPr>
            </a:pPr>
            <a:r>
              <a:t>△ 未展示对操作手感/动作节奏的系统性理解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2386584"/>
            <a:ext cx="2331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5C0D5"/>
                </a:solidFill>
              </a:defRPr>
            </a:pPr>
            <a:r>
              <a:t>△ 他最近玩的游戏多为银河城，不是战斗向品类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3383279"/>
            <a:ext cx="3520440" cy="1645920"/>
          </a:xfrm>
          <a:prstGeom prst="roundRect">
            <a:avLst/>
          </a:prstGeom>
          <a:solidFill>
            <a:srgbClr val="121C35"/>
          </a:solidFill>
          <a:ln w="12700">
            <a:solidFill>
              <a:srgbClr val="E86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7240" y="3474719"/>
            <a:ext cx="3246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8606E"/>
                </a:solidFill>
              </a:defRPr>
            </a:pPr>
            <a:r>
              <a:t>☆ 数值策划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3730751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90A5"/>
                </a:solidFill>
              </a:defRPr>
            </a:pPr>
            <a:r>
              <a:t>不建议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3913631"/>
            <a:ext cx="3246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5C0D5"/>
                </a:solidFill>
              </a:defRPr>
            </a:pPr>
            <a:r>
              <a:t>✗ 数理基础是其相对劣势赛道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087367"/>
            <a:ext cx="3246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5C0D5"/>
                </a:solidFill>
              </a:defRPr>
            </a:pPr>
            <a:r>
              <a:t>✗ 作业中完全没有涉及任何数值维度的分析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4261103"/>
            <a:ext cx="3246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5C0D5"/>
                </a:solidFill>
              </a:defRPr>
            </a:pPr>
            <a:r>
              <a:t>✗ 竞品多为数学/统计科班生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80560" y="3383279"/>
            <a:ext cx="3520440" cy="1645920"/>
          </a:xfrm>
          <a:prstGeom prst="roundRect">
            <a:avLst/>
          </a:prstGeom>
          <a:solidFill>
            <a:srgbClr val="121C35"/>
          </a:solidFill>
          <a:ln w="12700">
            <a:solidFill>
              <a:srgbClr val="56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617720" y="3474719"/>
            <a:ext cx="3246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6C8E0"/>
                </a:solidFill>
              </a:defRPr>
            </a:pPr>
            <a:r>
              <a:t>○ 技术策划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7720" y="3730751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90A5"/>
                </a:solidFill>
              </a:defRPr>
            </a:pPr>
            <a:r>
              <a:t>长期可探索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17720" y="3913631"/>
            <a:ext cx="3246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5C0D5"/>
                </a:solidFill>
              </a:defRPr>
            </a:pPr>
            <a:r>
              <a:t>△ 他有UE5基础和建模能力，可向技术策划延伸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17720" y="4087367"/>
            <a:ext cx="3246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5C0D5"/>
                </a:solidFill>
              </a:defRPr>
            </a:pPr>
            <a:r>
              <a:t>△ 但目前缺乏编程基础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17720" y="4261103"/>
            <a:ext cx="3246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5C0D5"/>
                </a:solidFill>
              </a:defRPr>
            </a:pPr>
            <a:r>
              <a:t>△ 建议掌握策划核心技能后再考虑此方向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3383279"/>
            <a:ext cx="3520440" cy="1645920"/>
          </a:xfrm>
          <a:prstGeom prst="roundRect">
            <a:avLst/>
          </a:prstGeom>
          <a:solidFill>
            <a:srgbClr val="121C35"/>
          </a:solidFill>
          <a:ln w="12700">
            <a:solidFill>
              <a:srgbClr val="F5D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458200" y="3474719"/>
            <a:ext cx="3246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D060"/>
                </a:solidFill>
              </a:defRPr>
            </a:pPr>
            <a:r>
              <a:t>○ 运营策划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3730751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90A5"/>
                </a:solidFill>
              </a:defRPr>
            </a:pPr>
            <a:r>
              <a:t>暂不匹配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58200" y="3913631"/>
            <a:ext cx="3246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5C0D5"/>
                </a:solidFill>
              </a:defRPr>
            </a:pPr>
            <a:r>
              <a:t>△ 未展示数据分析能力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4087367"/>
            <a:ext cx="3246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B5C0D5"/>
                </a:solidFill>
              </a:defRPr>
            </a:pPr>
            <a:r>
              <a:t>△ 对商业模式和用户运营无涉猎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65760"/>
            <a:ext cx="10881360" cy="38100"/>
          </a:xfrm>
          <a:prstGeom prst="rect">
            <a:avLst/>
          </a:prstGeom>
          <a:solidFill>
            <a:srgbClr val="5B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策划职业发展路径与薪资参考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590A5"/>
                </a:solidFill>
              </a:defRPr>
            </a:pPr>
            <a:r>
              <a:t>从校招到主策的成长阶梯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590A5"/>
                </a:solidFill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303520" cy="466344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8" y="1618488"/>
            <a:ext cx="5084064" cy="38100"/>
          </a:xfrm>
          <a:prstGeom prst="rect">
            <a:avLst/>
          </a:prstGeom>
          <a:solidFill>
            <a:srgbClr val="40D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70992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0D9A0"/>
                </a:solidFill>
              </a:defRPr>
            </a:pPr>
            <a:r>
              <a:t>职业发展路径（以关卡/系统策划为例）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75688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▸ 应届/实习策划（0–1年）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95144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· 执行层面：配表、跟版本、完成主策分配的子系统文档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14600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· 核心任务：学习流程、积累品类深度、建立工具熟练度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34056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· 薪资参考：大厂 20–35万/年（含奖金）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53512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172968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▸ 初级策划（1–3年）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92424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· 独立负责子系统/单个关卡的设计与落地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11880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· 开始积累项目经历，参与上线版本的迭代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31336"/>
            <a:ext cx="4937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  · 薪资参考：</a:t>
            </a:r>
            <a:r>
              <a:rPr lang="en-US" dirty="0"/>
              <a:t>12</a:t>
            </a:r>
            <a:r>
              <a:rPr dirty="0"/>
              <a:t>–</a:t>
            </a:r>
            <a:r>
              <a:rPr lang="en-US" dirty="0"/>
              <a:t>18</a:t>
            </a:r>
            <a:r>
              <a:rPr dirty="0"/>
              <a:t>万/年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50792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270248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▸ 资深策划（3–5年）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489704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· 主导核心系统/关卡的设计，开始带小团队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09160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· 具备跨部门协调能力，能独立推动设计决策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928616"/>
            <a:ext cx="4937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  · 薪资参考：</a:t>
            </a:r>
            <a:r>
              <a:rPr lang="en-US" dirty="0"/>
              <a:t>24</a:t>
            </a:r>
            <a:r>
              <a:rPr dirty="0"/>
              <a:t>–</a:t>
            </a:r>
            <a:r>
              <a:rPr lang="en-US" dirty="0"/>
              <a:t>30</a:t>
            </a:r>
            <a:r>
              <a:rPr dirty="0"/>
              <a:t>万/年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148072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5367528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▸ </a:t>
            </a:r>
            <a:r>
              <a:rPr dirty="0" err="1"/>
              <a:t>主策</a:t>
            </a:r>
            <a:r>
              <a:rPr dirty="0"/>
              <a:t>/制作人（5–10年+）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1508760"/>
            <a:ext cx="5257800" cy="466344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73368" y="1618488"/>
            <a:ext cx="5038344" cy="38100"/>
          </a:xfrm>
          <a:prstGeom prst="rect">
            <a:avLst/>
          </a:prstGeom>
          <a:solidFill>
            <a:srgbClr val="5B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1709928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B9BF5"/>
                </a:solidFill>
              </a:defRPr>
            </a:pPr>
            <a:r>
              <a:t>每个阶段的核心竞争力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07568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▸ </a:t>
            </a:r>
            <a:r>
              <a:rPr dirty="0" err="1"/>
              <a:t>入行阶段：靠作品集说话</a:t>
            </a:r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6446520" y="2295144"/>
            <a:ext cx="48920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  · </a:t>
            </a:r>
            <a:r>
              <a:rPr dirty="0" err="1"/>
              <a:t>策划文档</a:t>
            </a:r>
            <a:r>
              <a:rPr dirty="0"/>
              <a:t>/</a:t>
            </a:r>
            <a:r>
              <a:rPr dirty="0" err="1"/>
              <a:t>关卡白盒</a:t>
            </a:r>
            <a:r>
              <a:rPr dirty="0"/>
              <a:t>/</a:t>
            </a:r>
            <a:r>
              <a:rPr dirty="0" err="1"/>
              <a:t>体验拆解报</a:t>
            </a:r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6446520" y="2514600"/>
            <a:ext cx="48920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  · </a:t>
            </a:r>
            <a:r>
              <a:rPr dirty="0" err="1"/>
              <a:t>作品集</a:t>
            </a:r>
            <a:r>
              <a:rPr dirty="0"/>
              <a:t> &gt; </a:t>
            </a:r>
            <a:r>
              <a:rPr dirty="0" err="1"/>
              <a:t>学历专业</a:t>
            </a:r>
            <a:endParaRPr dirty="0"/>
          </a:p>
        </p:txBody>
      </p:sp>
      <p:sp>
        <p:nvSpPr>
          <p:cNvPr id="31" name="TextBox 30"/>
          <p:cNvSpPr txBox="1"/>
          <p:nvPr/>
        </p:nvSpPr>
        <p:spPr>
          <a:xfrm>
            <a:off x="6446520" y="2734056"/>
            <a:ext cx="48920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  · </a:t>
            </a:r>
            <a:r>
              <a:rPr dirty="0" err="1"/>
              <a:t>面试会深挖作品的思考过程</a:t>
            </a:r>
            <a:endParaRPr dirty="0"/>
          </a:p>
        </p:txBody>
      </p:sp>
      <p:sp>
        <p:nvSpPr>
          <p:cNvPr id="32" name="TextBox 31"/>
          <p:cNvSpPr txBox="1"/>
          <p:nvPr/>
        </p:nvSpPr>
        <p:spPr>
          <a:xfrm>
            <a:off x="6446520" y="295351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6520" y="317296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▸ </a:t>
            </a:r>
            <a:r>
              <a:rPr dirty="0" err="1"/>
              <a:t>成长阶段：靠项目经历积累</a:t>
            </a:r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6446520" y="339242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  · </a:t>
            </a:r>
            <a:r>
              <a:rPr dirty="0" err="1"/>
              <a:t>参与过成功上线项目</a:t>
            </a:r>
            <a:r>
              <a:rPr dirty="0"/>
              <a:t> = </a:t>
            </a:r>
            <a:r>
              <a:rPr dirty="0" err="1"/>
              <a:t>最有说服力的简历</a:t>
            </a:r>
            <a:endParaRPr dirty="0"/>
          </a:p>
        </p:txBody>
      </p:sp>
      <p:sp>
        <p:nvSpPr>
          <p:cNvPr id="35" name="TextBox 34"/>
          <p:cNvSpPr txBox="1"/>
          <p:nvPr/>
        </p:nvSpPr>
        <p:spPr>
          <a:xfrm>
            <a:off x="6446520" y="3611880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  · </a:t>
            </a:r>
            <a:r>
              <a:rPr dirty="0" err="1"/>
              <a:t>在每个项目中至少掌握一个完整系统</a:t>
            </a:r>
            <a:r>
              <a:rPr dirty="0"/>
              <a:t>/</a:t>
            </a:r>
            <a:r>
              <a:rPr dirty="0" err="1"/>
              <a:t>关卡的闭环</a:t>
            </a:r>
            <a:endParaRPr dirty="0"/>
          </a:p>
        </p:txBody>
      </p:sp>
      <p:sp>
        <p:nvSpPr>
          <p:cNvPr id="36" name="TextBox 35"/>
          <p:cNvSpPr txBox="1"/>
          <p:nvPr/>
        </p:nvSpPr>
        <p:spPr>
          <a:xfrm>
            <a:off x="6446520" y="3831336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  · </a:t>
            </a:r>
            <a:r>
              <a:rPr dirty="0" err="1"/>
              <a:t>开始建立行业人脉和口碑</a:t>
            </a:r>
            <a:endParaRPr dirty="0"/>
          </a:p>
        </p:txBody>
      </p:sp>
      <p:sp>
        <p:nvSpPr>
          <p:cNvPr id="37" name="TextBox 36"/>
          <p:cNvSpPr txBox="1"/>
          <p:nvPr/>
        </p:nvSpPr>
        <p:spPr>
          <a:xfrm>
            <a:off x="6446520" y="405079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46520" y="427024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rPr dirty="0"/>
              <a:t>▸ </a:t>
            </a:r>
            <a:r>
              <a:rPr dirty="0" err="1"/>
              <a:t>资深阶段：靠方法论和判断力</a:t>
            </a:r>
            <a:endParaRPr dirty="0"/>
          </a:p>
        </p:txBody>
      </p:sp>
      <p:sp>
        <p:nvSpPr>
          <p:cNvPr id="39" name="TextBox 38"/>
          <p:cNvSpPr txBox="1"/>
          <p:nvPr/>
        </p:nvSpPr>
        <p:spPr>
          <a:xfrm>
            <a:off x="6446520" y="448970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· 能抽象设计原则、可复用到不同项目和品类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4709160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· 能看数据、能判断趋势、能做方向决策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928616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  · 具备商业化思维 — 设计不只是好玩，还要能赚钱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5148072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46520" y="5367528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B5C0D5"/>
                </a:solidFill>
              </a:defRPr>
            </a:pPr>
            <a:r>
              <a:t>▸ 主策阶段：靠全局视和对人性的理解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46520" y="5760720"/>
            <a:ext cx="4892040" cy="63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B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65760"/>
            <a:ext cx="10881360" cy="38100"/>
          </a:xfrm>
          <a:prstGeom prst="rect">
            <a:avLst/>
          </a:prstGeom>
          <a:solidFill>
            <a:srgbClr val="5B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第1课总结：从今天开始，你需要做什么？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590A5"/>
                </a:solidFill>
              </a:defRPr>
            </a:pPr>
            <a:r>
              <a:t>基于七大工种的分析，你的行动计划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590A5"/>
                </a:solidFill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881360" cy="86868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18488"/>
            <a:ext cx="457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0D9A0"/>
                </a:solidFill>
              </a:defRPr>
            </a:pPr>
            <a:r>
              <a:t>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61848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0D9A0"/>
                </a:solidFill>
              </a:defRPr>
            </a:pPr>
            <a:r>
              <a:t>锁定主攻方向（第1–3课）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47672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5C0D5"/>
                </a:solidFill>
              </a:defRPr>
            </a:pPr>
            <a:r>
              <a:t>重点观察关卡策划和系统策划的实际工作内容。你的雕塑/空间/交互背景天然适合关卡。前3课结束后我们会共同锁定方向。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14600"/>
            <a:ext cx="10881360" cy="86868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624328"/>
            <a:ext cx="457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B9BF5"/>
                </a:solidFill>
              </a:defRPr>
            </a:pPr>
            <a:r>
              <a:t>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2432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5B9BF5"/>
                </a:solidFill>
              </a:defRPr>
            </a:pPr>
            <a:r>
              <a:t>建立专业术语体系（第2课）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53512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5C0D5"/>
                </a:solidFill>
              </a:defRPr>
            </a:pPr>
            <a:r>
              <a:t>学习MDA框架、核心循环、心流通道、引导分类——把你在作业中已经用直觉感知到的东西，配上一套专业的语言。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20440"/>
            <a:ext cx="10881360" cy="86868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630168"/>
            <a:ext cx="457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B6EF5"/>
                </a:solidFill>
              </a:defRPr>
            </a:pPr>
            <a:r>
              <a:t>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3016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8B6EF5"/>
                </a:solidFill>
              </a:defRPr>
            </a:pPr>
            <a:r>
              <a:t>补齐策划文档规范（第4课）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959352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5C0D5"/>
                </a:solidFill>
              </a:defRPr>
            </a:pPr>
            <a:r>
              <a:t>学会写PRD系统案、关卡设计案、数值表。你在作业中已经展现了改进方案的能力，现在要学会用行业标准格式来表达。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526280"/>
            <a:ext cx="10881360" cy="86868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636008"/>
            <a:ext cx="457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5A650"/>
                </a:solidFill>
              </a:defRPr>
            </a:pPr>
            <a:r>
              <a:t>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63600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A650"/>
                </a:solidFill>
              </a:defRPr>
            </a:pPr>
            <a:r>
              <a:t>产出作品集核心物料（第3–8课）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965192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5C0D5"/>
                </a:solidFill>
              </a:defRPr>
            </a:pPr>
            <a:r>
              <a:t>1份深度体验拆解报告 → 1份系统案+数值表 → 1份关卡设计案（你的核心卖点）→ 1个可玩原型+演示视频。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532120"/>
            <a:ext cx="10881360" cy="868680"/>
          </a:xfrm>
          <a:prstGeom prst="round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5641848"/>
            <a:ext cx="457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8606E"/>
                </a:solidFill>
              </a:defRPr>
            </a:pPr>
            <a:r>
              <a:t>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64184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8606E"/>
                </a:solidFill>
              </a:defRPr>
            </a:pPr>
            <a:r>
              <a:t>规划投递时间线（第9–10课）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971032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5C0D5"/>
                </a:solidFill>
              </a:defRPr>
            </a:pPr>
            <a:r>
              <a:t>你在伦敦，需提前规划远程投递/回国时机。2026届秋招集中在2025.8–10月，春招在2026.2–4月。作品集节奏需要据此倒推。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6309360"/>
            <a:ext cx="10881360" cy="320040"/>
          </a:xfrm>
          <a:prstGeom prst="roundRect">
            <a:avLst/>
          </a:prstGeom>
          <a:solidFill>
            <a:srgbClr val="182850"/>
          </a:solidFill>
          <a:ln w="19050">
            <a:solidFill>
              <a:srgbClr val="40D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8200" y="6300216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0D9A0"/>
                </a:solidFill>
              </a:defRPr>
            </a:pPr>
            <a:r>
              <a:t>你的核心优势：空间思维 + 交互设计 + 情绪引导 + 艺术人文背景 → 首推关卡/场景策划主攻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</TotalTime>
  <Words>1209</Words>
  <Application>Microsoft Office PowerPoint</Application>
  <PresentationFormat>宽屏</PresentationFormat>
  <Paragraphs>243</Paragraphs>
  <Slides>10</Slides>
  <Notes>0</Notes>
  <HiddenSlides>2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Isaac Hsia</cp:lastModifiedBy>
  <cp:revision>1</cp:revision>
  <dcterms:created xsi:type="dcterms:W3CDTF">2013-01-27T09:14:16Z</dcterms:created>
  <dcterms:modified xsi:type="dcterms:W3CDTF">2026-06-21T05:33:56Z</dcterms:modified>
  <cp:category/>
</cp:coreProperties>
</file>